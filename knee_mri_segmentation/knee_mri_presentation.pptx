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Сегментация МРТ
коленного сустава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EE"/>
                </a:solidFill>
              </a:rPr>
              <a:t>Автоматическое определение
костных и хрящевых структур
по снимкам МРТ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251960"/>
            <a:ext cx="5029200" cy="4572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C99"/>
                </a:solidFill>
              </a:rPr>
              <a:t>Маратов Ерасыл Балканович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99BB"/>
                </a:solidFill>
              </a:rPr>
              <a:t>7М06101  |  AIU  |  2025–2026  |  Алматы</a:t>
            </a:r>
          </a:p>
        </p:txBody>
      </p:sp>
      <p:pic>
        <p:nvPicPr>
          <p:cNvPr id="9" name="Picture 8" descr="sample_grid_kl_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"/>
            <a:ext cx="5394960" cy="6400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Зачем это нужно?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12880" cy="13716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Остеоартрит — самое распространённое заболевание суставов. 520 млн человек в мире.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5577840" cy="3749039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64008" cy="374903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Проблема сегодня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04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Врач вручную обводит ткани на каждом снимке — это 30–90 минут на одного пациента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Разные врачи могут дать разные оценки одного и того же снимка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Чем позже находят болезнь — тем хуже лечение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651760"/>
            <a:ext cx="5852160" cy="3749039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651760"/>
            <a:ext cx="64008" cy="3749039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7249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C99"/>
                </a:solidFill>
              </a:rPr>
              <a:t>Что мы делаем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004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Алгоритм сам находит кость и хрящ на МРТ-снимке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Программа делает это за секунды вместо часа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Результат одинаковый при каждом запуске — нет субъективности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Помогает врачу принять решение быстрее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Что мы использовали для обучения и проверки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743200" cy="14630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743200" cy="914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9FF"/>
                </a:solidFill>
              </a:rPr>
              <a:t>Источник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Kaggle
(открытый датасет)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97280"/>
            <a:ext cx="2743200" cy="14630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097280"/>
            <a:ext cx="2743200" cy="9144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C99"/>
                </a:solidFill>
              </a:rPr>
              <a:t>Снимков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57276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Тысячи 2D-срезов
МРТ коленного сустава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743200" cy="14630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09728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9900"/>
                </a:solidFill>
              </a:rPr>
              <a:t>Классов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57276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KL-0 ... KL-4
5 стадий артрита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097280"/>
            <a:ext cx="2743200" cy="14630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743200" cy="91440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799BB"/>
                </a:solidFill>
              </a:rPr>
              <a:t>Разбивка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57276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Обучение / Проверка / Тест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97480"/>
            <a:ext cx="5029200" cy="3749039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DEE"/>
                </a:solidFill>
              </a:rPr>
              <a:t>Как читать шкалу KL: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320040" cy="41148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28269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KL-0 — норма, явных признаков болезни нет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94760"/>
            <a:ext cx="320040" cy="4114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8313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KL-1 — ранние/слабые изменения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32004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37997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KL-2 — умеренная стадия, изменения уже заметны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92040"/>
            <a:ext cx="320040" cy="411480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92861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KL-3 — выраженная стадия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40680"/>
            <a:ext cx="320040" cy="411480"/>
          </a:xfrm>
          <a:prstGeom prst="rect">
            <a:avLst/>
          </a:prstGeom>
          <a:solidFill>
            <a:srgbClr val="FF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4772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KL-4 — тяжёлая стадия артрита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492240"/>
            <a:ext cx="5029200" cy="274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6492240"/>
            <a:ext cx="64008" cy="2743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KL = стадия болезни: KL-0 норма, KL-4 самый тяжёлый артрит</a:t>
            </a:r>
          </a:p>
        </p:txBody>
      </p:sp>
      <p:pic>
        <p:nvPicPr>
          <p:cNvPr id="39" name="Picture 38" descr="sample_grid_kl_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97480"/>
            <a:ext cx="6492240" cy="37490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86400" y="64739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799BB"/>
                </a:solidFill>
              </a:rPr>
              <a:t>Примеры МРТ: здоровый (KL-0) → тяжёлый артрит (KL-4)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Откуда 20 параметров и почему Random Forest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669280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" cy="5394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9FF"/>
                </a:solidFill>
              </a:rPr>
              <a:t>Откуда 20 параметров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Берём МРТ-снимок как обычную картинку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Программа считает числа из пикселей: яркость, резкость, текстура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Добавляем геометрию: площадь кости, площадь хряща, ширина щели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Итого на каждый снимок получаем таблицу из 20 чисел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Это вход для модели (каждая строка = один снимок)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669280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64008" cy="539496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C99"/>
                </a:solidFill>
              </a:rPr>
              <a:t>Почему выбрали 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У нас признаки связаны нелинейно (это видно на PCA)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Random Forest хорошо работает на табличных данных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Почти не требует сложной настройки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Показывает важность признаков (что влияет на диагноз)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CCDDEE"/>
                </a:solidFill>
              </a:rPr>
              <a:t>●  Стабильнее простой линейной модели для этой задачи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6492240"/>
            <a:ext cx="64008" cy="274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Коротко: снимок -&gt; 20 параметров -&gt; Random Forest -&gt; KL-стадия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Что мы измеряли на каждом снимке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20 признаков — числовые характеристики МРТ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5 / 14</a:t>
            </a:r>
          </a:p>
        </p:txBody>
      </p:sp>
      <p:pic>
        <p:nvPicPr>
          <p:cNvPr id="8" name="Picture 7" descr="image_analysis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029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99BB"/>
                </a:solidFill>
              </a:rPr>
              <a:t>Один МРТ-срез превращается в набор чисел (яркость, резкость, текстура, геометрия)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486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Важно: эти параметры считаются из пикселей снимка, а не берутся из анкеты пациента.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097280"/>
            <a:ext cx="4663440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DEE"/>
                </a:solidFill>
              </a:rPr>
              <a:t>Группы признаков (все из изображения):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691640"/>
            <a:ext cx="54864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7099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Яркость пикселей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0756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среднее, разброс, форма распределения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624328"/>
            <a:ext cx="54864" cy="82296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64261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C99"/>
                </a:solidFill>
              </a:rPr>
              <a:t>Резкость снимка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00837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насколько чёткие границы между тканями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557016"/>
            <a:ext cx="54864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57530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900"/>
                </a:solidFill>
              </a:rPr>
              <a:t>Текстура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94106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однородность, контраст, энергия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489704"/>
            <a:ext cx="54864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50799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Геометрия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737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площадь кости, площадь хряща, ширина щели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5422392"/>
            <a:ext cx="54864" cy="82296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54406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C99"/>
                </a:solidFill>
              </a:rPr>
              <a:t>Клинические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80644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степень остеофитов, индекс склероза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Какие признаки важнее всего?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Random Forest показывает, что влияет на диагноз больше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6 / 14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097280"/>
            <a:ext cx="4663440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188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DDEE"/>
                </a:solidFill>
              </a:rPr>
              <a:t>Топ-5 признаков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502920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9019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7556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900"/>
                </a:solidFill>
              </a:rPr>
              <a:t>Ширина суставной щели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396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Главный признак артрита — щель сужается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651760"/>
            <a:ext cx="502920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816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6700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Остеофиты (наросты)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540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Костные шипы на суставе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566160"/>
            <a:ext cx="502920" cy="82296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730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84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C99"/>
                </a:solidFill>
              </a:rPr>
              <a:t>Площадь хряща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684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Истончение хряща при прогрессии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480560"/>
            <a:ext cx="502920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6451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4988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</a:rPr>
              <a:t>Спектральная энергия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828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Изменение текстуры снимка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5394960"/>
            <a:ext cx="502920" cy="822960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55595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#5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4132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799BB"/>
                </a:solidFill>
              </a:rPr>
              <a:t>Резкость снимка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7972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Размытие границ при артрите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Что показал анализ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7 / 14</a:t>
            </a:r>
          </a:p>
        </p:txBody>
      </p:sp>
      <p:pic>
        <p:nvPicPr>
          <p:cNvPr id="7" name="Picture 6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3931920" cy="2743200"/>
          </a:xfrm>
          <a:prstGeom prst="rect">
            <a:avLst/>
          </a:prstGeom>
        </p:spPr>
      </p:pic>
      <p:pic>
        <p:nvPicPr>
          <p:cNvPr id="8" name="Picture 7" descr="distribution_edge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51560"/>
            <a:ext cx="3931920" cy="2743200"/>
          </a:xfrm>
          <a:prstGeom prst="rect">
            <a:avLst/>
          </a:prstGeom>
        </p:spPr>
      </p:pic>
      <p:pic>
        <p:nvPicPr>
          <p:cNvPr id="9" name="Picture 8" descr="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051560"/>
            <a:ext cx="356616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8587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99BB"/>
                </a:solidFill>
              </a:rPr>
              <a:t>Сколько снимков в каждом KL-классе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587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99BB"/>
                </a:solidFill>
              </a:rPr>
              <a:t>Плотность границ: у тяжёлых стадий границы обычно слабее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858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99BB"/>
                </a:solidFill>
              </a:rPr>
              <a:t>Связь между признаками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11612880" cy="640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389120"/>
            <a:ext cx="64008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График 1: видим, что классы распределены не идеально ровно (есть дисбаланс)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102352"/>
            <a:ext cx="11612880" cy="640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102352"/>
            <a:ext cx="64008" cy="64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93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График 2: плотность границ падает при более тяжёлых стадиях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815584"/>
            <a:ext cx="11612880" cy="640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815584"/>
            <a:ext cx="64008" cy="64008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90702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График 3: признаки связаны между собой, поэтому важна нелинейная модель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Визуализация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Можно ли разделить степени артрита линейно?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8 / 14</a:t>
            </a:r>
          </a:p>
        </p:txBody>
      </p:sp>
      <p:pic>
        <p:nvPicPr>
          <p:cNvPr id="8" name="Picture 7" descr="pca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3825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99BB"/>
                </a:solidFill>
              </a:rPr>
              <a:t>Каждая точка — один МРТ-срез. Цвет — степень артрита (KL 0–4)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097280"/>
            <a:ext cx="4937760" cy="5212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2070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9FF"/>
                </a:solidFill>
              </a:rPr>
              <a:t>Что это значит?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1892808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У нас есть таблица N x 20 (N снимков, у каждого 20 параметров)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916936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PCA строит 2 новые оси (PC1 и PC2), где сохраняется максимум информации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3941064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Это и есть "сжатие" 20 параметров в 2D только для визуализации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4965192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Точки разных классов перемешаны — провести одну прямую невозможно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5879592"/>
            <a:ext cx="4572000" cy="9144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5879592"/>
            <a:ext cx="64008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5989320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900"/>
                </a:solidFill>
              </a:rPr>
              <a:t>Вывод: простая линейная модель не подойдёт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6903720"/>
            <a:ext cx="4572000" cy="9144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6903720"/>
            <a:ext cx="64008" cy="9144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208" y="7013448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C99"/>
                </a:solidFill>
              </a:rPr>
              <a:t>Random Forest справляется — он умеет строить нелинейные границы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Базовая сегментация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Да, тут сравниваем 3 метода сегментации (не классификацию KL)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103120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9FF"/>
                </a:solidFill>
              </a:rPr>
              <a:t>Шаг 1
Входной снимок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Серый МРТ-срез
коленного сустава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2860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799B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188720"/>
            <a:ext cx="2103120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9FF"/>
                </a:solidFill>
              </a:rPr>
              <a:t>Шаг 2
Порог Otsu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Автоматически
отделяет ткань от фона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2860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799B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188720"/>
            <a:ext cx="2103120" cy="109728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C99"/>
                </a:solidFill>
              </a:rPr>
              <a:t>Шаг 3
Морфология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Заполняет
пробелы и дыры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2860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799B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1188720"/>
            <a:ext cx="2103120" cy="109728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C99"/>
                </a:solidFill>
              </a:rPr>
              <a:t>Шаг 4
Компоненты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Находит отдельные
области тканей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2860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799B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188720"/>
            <a:ext cx="2103120" cy="29260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188720"/>
            <a:ext cx="210312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900"/>
                </a:solidFill>
              </a:rPr>
              <a:t>Шаг 5
Класс по размеру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2860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Большая → кость
Малая → хрящ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DEE"/>
                </a:solidFill>
              </a:rPr>
              <a:t>Сравнение методов сегментации: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55371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99BB"/>
                </a:solidFill>
              </a:rPr>
              <a:t>Это отдельная часть проекта: здесь мы сравниваем качество выделения тканей.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09160"/>
            <a:ext cx="3657600" cy="18288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709160"/>
            <a:ext cx="3657600" cy="109728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8646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799BB"/>
                </a:solidFill>
              </a:rPr>
              <a:t>Наш baseline
(Otsu)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5778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Dice: 0.20–0.35
Работает быстро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4709160"/>
            <a:ext cx="3657600" cy="18288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4709160"/>
            <a:ext cx="3657600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48646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99FF"/>
                </a:solidFill>
              </a:rPr>
              <a:t>U-Net
(нейросеть)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55778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Dice: 0.85–0.90
Требует обучения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4709160"/>
            <a:ext cx="3657600" cy="18288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4709160"/>
            <a:ext cx="3657600" cy="109728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8646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C99"/>
                </a:solidFill>
              </a:rPr>
              <a:t>nnU-Net
(лучший)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5778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Dice: 0.90–0.95
Государство искусства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99BB"/>
                </a:solidFill>
              </a:rPr>
              <a:t>Dice — мера совпадения: 1.0 = идеально, 0 = нет совпадения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Определение степени артрита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Logistic Regression vs Random Forest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10 / 14</a:t>
            </a:r>
          </a:p>
        </p:txBody>
      </p:sp>
      <p:pic>
        <p:nvPicPr>
          <p:cNvPr id="8" name="Picture 7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01091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99BB"/>
                </a:solidFill>
              </a:rPr>
              <a:t>Матрица ошибок: строки = реальный класс, столбцы = что предсказала модель.
Чем ярче диагональ — тем лучше.</a:t>
            </a:r>
          </a:p>
        </p:txBody>
      </p:sp>
      <p:pic>
        <p:nvPicPr>
          <p:cNvPr id="10" name="Picture 9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97280"/>
            <a:ext cx="5394960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501091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99BB"/>
                </a:solidFill>
              </a:rPr>
              <a:t>ROC-кривая: чем выше линия — тем лучше модель различает классы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650992"/>
            <a:ext cx="5577840" cy="9144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5650992"/>
            <a:ext cx="64008" cy="914400"/>
          </a:xfrm>
          <a:prstGeom prst="rect">
            <a:avLst/>
          </a:prstGeom>
          <a:solidFill>
            <a:srgbClr val="77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715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799BB"/>
                </a:solidFill>
              </a:rP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80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Сравниваем как baseline (контрольную простую модель)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99BB"/>
                </a:solidFill>
              </a:rPr>
              <a:t>Зачем сравнение с Logistic Regression: чтобы показать, что улучшение от Random Forest не случайно.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5650992"/>
            <a:ext cx="5577840" cy="91440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5650992"/>
            <a:ext cx="64008" cy="9144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5715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99"/>
                </a:solidFill>
              </a:rPr>
              <a:t>Random Forest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080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Ансамбль деревьев — значительно точнее.
AUC и F1 выше по всем классам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65392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99BB"/>
                </a:solidFill>
              </a:rPr>
              <a:t>Зачем сравнение с Logistic Regression: чтобы показать, что улучшение от Random Forest не случайно.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Итоговые 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11 / 14</a:t>
            </a:r>
          </a:p>
        </p:txBody>
      </p:sp>
      <p:pic>
        <p:nvPicPr>
          <p:cNvPr id="7" name="Picture 6" descr="classific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097280"/>
            <a:ext cx="3749039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2070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DEE"/>
                </a:solidFill>
              </a:rPr>
              <a:t>Что означают метрики?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783080"/>
            <a:ext cx="54864" cy="7772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01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FF"/>
                </a:solidFill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Сколько % ответов верных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7395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99BB"/>
                </a:solidFill>
              </a:rPr>
              <a:t>Если где-то Accuracy у простой модели выше, это из-за дисбаланса классов.
Для нас важнее F1 и ROC-AUC по всем классам — там Random Forest стабильнее.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679192"/>
            <a:ext cx="54864" cy="77724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99"/>
                </a:solidFill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449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Из найденных — сколько правильных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7395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99BB"/>
                </a:solidFill>
              </a:rPr>
              <a:t>Если где-то Accuracy у простой модели выше, это из-за дисбаланса классов.
Для нас важнее F1 и ROC-AUC по всем классам — там Random Forest стабильнее.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575304"/>
            <a:ext cx="54864" cy="7772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5935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410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Из реальных — сколько нашли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7395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99BB"/>
                </a:solidFill>
              </a:rPr>
              <a:t>Если где-то Accuracy у простой модели выше, это из-за дисбаланса классов.
Для нас важнее F1 и ROC-AUC по всем классам — там Random Forest стабильнее.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4471416"/>
            <a:ext cx="54864" cy="7772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4897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FF"/>
                </a:solidFill>
              </a:rPr>
              <a:t>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371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Баланс между точностью и полнотой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99BB"/>
                </a:solidFill>
              </a:rPr>
              <a:t>Если где-то Accuracy у простой модели выше, это из-за дисбаланса классов.
Для нас важнее F1 и ROC-AUC по всем классам — там Random Forest стабильнее.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5367528"/>
            <a:ext cx="54864" cy="77724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53858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99"/>
                </a:solidFill>
              </a:rPr>
              <a:t>ROC-AUC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7332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Площадь под кривой: 1.0 = идеал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7395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99BB"/>
                </a:solidFill>
              </a:rPr>
              <a:t>Если где-то Accuracy у простой модели выше, это из-за дисбаланса классов.
Для нас важнее F1 и ROC-AUC по всем классам — там Random Forest стабильнее.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Выводы и что дальше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KL и 20 параметров простыми словами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99FF"/>
                </a:solidFill>
              </a:rPr>
              <a:t>Этот слайд можно читать буквально вслух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760720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64008" cy="5394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900"/>
                </a:solidFill>
              </a:rPr>
              <a:t>Что такое KL?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KL — это не разные болезни, а стадии одной болезни (остеоартрит)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KL-0: сустав выглядит нормально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KL-1: самые ранние изменения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KL-2: изменения уже заметны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KL-3: болезнь выраженная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KL-4: самая тяжёлая стадия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Модель выбирает, какая стадия наиболее вероятна для снимка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577840" cy="539496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64008" cy="539496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C99"/>
                </a:solidFill>
              </a:rPr>
              <a:t>Откуда 20 параметров?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Не из Excel, не из анкеты, не вручную от врача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Берём сам МРТ-снимок как картинку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Программа считает числа из пикселей: яркость, резкость, текстура, геометрия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Это как фильтры в фото-редакторе, только для медицины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Эти 20 чисел идут на вход модели Random Forest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CCDDEE"/>
                </a:solidFill>
              </a:rPr>
              <a:t>●  На выходе модель даёт класс: KL-0, KL-1, KL-2, KL-3 или KL-4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6492240"/>
            <a:ext cx="64008" cy="2743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Коротко: снимок → 20 чисел из изображения → Random Forest → стадия KL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097280"/>
            <a:ext cx="11612880" cy="10058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097280"/>
            <a:ext cx="64008" cy="10058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9FF"/>
                </a:solidFill>
              </a:rPr>
              <a:t>1) KL можно предсказывать автоматически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188720"/>
            <a:ext cx="7132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По МРТ-снимку модель определяет стадию артрита от KL-0 до KL-4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76272"/>
            <a:ext cx="11612880" cy="10058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176272"/>
            <a:ext cx="64008" cy="100584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311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C99"/>
                </a:solidFill>
              </a:rPr>
              <a:t>2) 20 параметров берутся из изображения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267712"/>
            <a:ext cx="7132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Это вычисления по пикселям (яркость, текстура, геометрия), а не ручной ввод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55264"/>
            <a:ext cx="11612880" cy="100584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255264"/>
            <a:ext cx="64008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31012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900"/>
                </a:solidFill>
              </a:rPr>
              <a:t>3) Random Forest — практичный выбор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346704"/>
            <a:ext cx="7132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Для наших данных он оказался стабильнее простой линейной модели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94960"/>
            <a:ext cx="11612880" cy="118872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68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799BB"/>
                </a:solidFill>
              </a:rPr>
              <a:t>Что дальше: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5468112"/>
            <a:ext cx="73152" cy="84124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4912" y="5468112"/>
            <a:ext cx="2834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Обучить U-Net
(нейросеть)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5468112"/>
            <a:ext cx="73152" cy="841248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25312" y="5468112"/>
            <a:ext cx="2834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Проверить на
реальных данных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5468112"/>
            <a:ext cx="73152" cy="8412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5712" y="5468112"/>
            <a:ext cx="2834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Интерфейс для
врача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Спасибо за внимание!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743200"/>
            <a:ext cx="5669280" cy="54864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C99"/>
                </a:solidFill>
              </a:rPr>
              <a:t>Маратов Ерасыл Балканович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799BB"/>
                </a:solidFill>
              </a:rPr>
              <a:t>7М06101  |  AIU  |  2025–2026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МРТ + 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20 признаков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Dice / 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4480560"/>
            <a:ext cx="1920240" cy="5029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238"/>
                </a:solidFill>
              </a:rPr>
              <a:t>U-Net — план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10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799BB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