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Сегментация МРТ
коленного сустава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EE"/>
                </a:solidFill>
              </a:rPr>
              <a:t>Автоматическое определение
костных и хрящевых структур
по снимкам МРТ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51960"/>
            <a:ext cx="5029200" cy="4572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99"/>
                </a:solidFill>
              </a:rPr>
              <a:t>Маратов Ерасыл Балканович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99BB"/>
                </a:solidFill>
              </a:rPr>
              <a:t>7М06101  |  AIU  |  2025–2026  |  Алматы</a:t>
            </a:r>
          </a:p>
        </p:txBody>
      </p:sp>
      <p:pic>
        <p:nvPicPr>
          <p:cNvPr id="9" name="Picture 8" descr="sample_grid_kl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"/>
            <a:ext cx="5394960" cy="6400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Зачем это нужно?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12880" cy="13716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Остеоартрит — самое распространённое заболевание суставов. 520 млн человек в мире.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557784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64008" cy="374903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Проблема сегодня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Врач вручную обводит ткани на каждом снимке — это 30–90 минут на одного пациента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Разные врачи могут дать разные оценки одного и того же снимка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Чем позже находят болезнь — тем хуже лечение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51760"/>
            <a:ext cx="585216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64008" cy="3749039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7249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99"/>
                </a:solidFill>
              </a:rPr>
              <a:t>Что мы делаем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Алгоритм сам находит кость и хрящ на МРТ-снимке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Программа делает это за секунды вместо часа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Результат одинаковый при каждом запуске — нет субъективности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Помогает врачу принять решение быстрее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Что мы использовали для обучения и проверки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43200" cy="914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9FF"/>
                </a:solidFill>
              </a:rPr>
              <a:t>Источник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Kaggle
(открытый датасет)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097280"/>
            <a:ext cx="2743200" cy="914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C99"/>
                </a:solidFill>
              </a:rPr>
              <a:t>Снимков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Тысячи 2D-срезов
МРТ коленного сустава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Классов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KL-0 ... KL-4
5 стадий артрита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743200" cy="9144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99BB"/>
                </a:solidFill>
              </a:rPr>
              <a:t>Разбивка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Обучение / Проверка / Тест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97480"/>
            <a:ext cx="502920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Что находит алгоритм: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320040" cy="41148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2826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0 — Фон (воздух, мягкие ткани)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320040" cy="4114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831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1 — Хрящ бедренной кости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20040" cy="4114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37997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2 — Хрящ большеберцовой кости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32004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2861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3 — Кость (бедро, голень, надколенник)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40680"/>
            <a:ext cx="320040" cy="411480"/>
          </a:xfrm>
          <a:prstGeom prst="rect">
            <a:avLst/>
          </a:prstGeom>
          <a:solidFill>
            <a:srgbClr val="FF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772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4 — Дефекты хряща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92240"/>
            <a:ext cx="5029200" cy="274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6492240"/>
            <a:ext cx="64008" cy="2743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KL = стадия болезни: KL-0 норма, KL-4 самый тяжёлый артрит</a:t>
            </a:r>
          </a:p>
        </p:txBody>
      </p:sp>
      <p:pic>
        <p:nvPicPr>
          <p:cNvPr id="39" name="Picture 38" descr="sample_grid_kl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97480"/>
            <a:ext cx="6492240" cy="37490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86400" y="64739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99BB"/>
                </a:solidFill>
              </a:rPr>
              <a:t>Примеры МРТ: здоровый (KL-0) → тяжёлый артрит (KL-4)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мы сделали — шаг за шагом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14173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508760"/>
            <a:ext cx="640080" cy="64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207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9FF"/>
                </a:solidFill>
              </a:rPr>
              <a:t>Загрузили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Скачали тысячи МРТ-срезов с Kaggle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64008" cy="141732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508760"/>
            <a:ext cx="640080" cy="6400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207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C99"/>
                </a:solidFill>
              </a:rPr>
              <a:t>Обработали снимки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645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Привели все изображения к единому формату и масштабу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24328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24328"/>
            <a:ext cx="64008" cy="1417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035808"/>
            <a:ext cx="64008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035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7340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900"/>
                </a:solidFill>
              </a:rPr>
              <a:t>Извлекли признаки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17296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Из каждого снимка — 20 числовых характеристик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24328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624328"/>
            <a:ext cx="64008" cy="14173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65392" y="3035808"/>
            <a:ext cx="640080" cy="64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035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7340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9FF"/>
                </a:solidFill>
              </a:rPr>
              <a:t>Провели анализ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17296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Изучили, как признаки связаны со степенью болезни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151376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151376"/>
            <a:ext cx="64008" cy="141732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" y="4562856"/>
            <a:ext cx="640080" cy="6400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56285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2611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C99"/>
                </a:solidFill>
              </a:rPr>
              <a:t>Запустили сегментацию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7000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Базовый алгоритм выделяет кость и хрящ на снимке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51376"/>
            <a:ext cx="5760720" cy="1417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151376"/>
            <a:ext cx="64008" cy="1417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5392" y="4562856"/>
            <a:ext cx="64008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56285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238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2611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900"/>
                </a:solidFill>
              </a:rPr>
              <a:t>Обучили классификатор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7000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Random Forest определяет степень артрита (KL 0–4)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мы измеряли на каждом снимке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20 признаков — числовые характеристики МРТ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5 / 13</a:t>
            </a:r>
          </a:p>
        </p:txBody>
      </p:sp>
      <p:pic>
        <p:nvPicPr>
          <p:cNvPr id="8" name="Picture 7" descr="image_analysis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029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99BB"/>
                </a:solidFill>
              </a:rPr>
              <a:t>Один МРТ-срез превращается в набор чисел (яркость, резкость, текстура, геометрия)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Важно: эти параметры считаются из пикселей снимка, а не берутся из анкеты пациента.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097280"/>
            <a:ext cx="466344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Группы признаков (все из изображения):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91640"/>
            <a:ext cx="54864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099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Яркость пикселей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756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среднее, разброс, форма распределения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624328"/>
            <a:ext cx="54864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64261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Резкость снимка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00837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насколько чёткие границы между тканями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557016"/>
            <a:ext cx="54864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57530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Текстура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94106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однородность, контраст, энергия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489704"/>
            <a:ext cx="54864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50799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Геометрия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73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площадь кости, площадь хряща, ширина щели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5422392"/>
            <a:ext cx="54864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4406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Клинические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80644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степень остеофитов, индекс склероза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показал анализ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6 / 13</a:t>
            </a:r>
          </a:p>
        </p:txBody>
      </p:sp>
      <p:pic>
        <p:nvPicPr>
          <p:cNvPr id="7" name="Picture 6" descr="distribution_edg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3931920" cy="2743200"/>
          </a:xfrm>
          <a:prstGeom prst="rect">
            <a:avLst/>
          </a:prstGeom>
        </p:spPr>
      </p:pic>
      <p:pic>
        <p:nvPicPr>
          <p:cNvPr id="8" name="Picture 7" descr="distribution_laplacian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1560"/>
            <a:ext cx="3931920" cy="2743200"/>
          </a:xfrm>
          <a:prstGeom prst="rect">
            <a:avLst/>
          </a:prstGeom>
        </p:spPr>
      </p:pic>
      <p:pic>
        <p:nvPicPr>
          <p:cNvPr id="9" name="Picture 8" descr="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051560"/>
            <a:ext cx="356616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Чёткость границ снижается при тяжёлом артрите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Резкость снимка выше у здоровых суставов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858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Связь между признаками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389120"/>
            <a:ext cx="64008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Главный предиктор: ширина суставной щели — чем уже, тем тяжелее артрит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102352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102352"/>
            <a:ext cx="64008" cy="64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93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Остеофиты (костные наросты) — второй по важности признак болезни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815584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815584"/>
            <a:ext cx="64008" cy="6400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9070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Площадь хряща уменьшается по мере прогрессии — хорошо видно на снимках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Визуализация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Можно ли разделить степени артрита линейно?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7 / 13</a:t>
            </a:r>
          </a:p>
        </p:txBody>
      </p:sp>
      <p:pic>
        <p:nvPicPr>
          <p:cNvPr id="8" name="Picture 7" descr="pc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3825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9BB"/>
                </a:solidFill>
              </a:rPr>
              <a:t>Каждая точка — один МРТ-срез. Цвет — степень артрита (KL 0–4)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4937760" cy="5212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207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9FF"/>
                </a:solidFill>
              </a:rPr>
              <a:t>Что это значит?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892808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Мы "сжали" 20 признаков до 2, чтобы нарисовать на плоскости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916936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Точки разных классов перемешаны — провести одну прямую невозможно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831336"/>
            <a:ext cx="457200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831336"/>
            <a:ext cx="64008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3941064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00"/>
                </a:solidFill>
              </a:rPr>
              <a:t>Вывод: простая линейная модель не подойдёт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855464"/>
            <a:ext cx="457200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4855464"/>
            <a:ext cx="64008" cy="9144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4965192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C99"/>
                </a:solidFill>
              </a:rPr>
              <a:t>Random Forest справляется — он умеет строить нелинейные границы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Базовая сегментация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Как программа находит кость и хрящ на снимке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0312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9FF"/>
                </a:solidFill>
              </a:rPr>
              <a:t>Шаг 1
Входной снимок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Серый МРТ-срез
коленного сустава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188720"/>
            <a:ext cx="210312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9FF"/>
                </a:solidFill>
              </a:rPr>
              <a:t>Шаг 2
Порог Otsu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Автоматически
отделяет ткань от фона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188720"/>
            <a:ext cx="210312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99"/>
                </a:solidFill>
              </a:rPr>
              <a:t>Шаг 3
Морфология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Заполняет
пробелы и дыры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1188720"/>
            <a:ext cx="210312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99"/>
                </a:solidFill>
              </a:rPr>
              <a:t>Шаг 4
Компоненты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Находит отдельные
области тканей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031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900"/>
                </a:solidFill>
              </a:rPr>
              <a:t>Шаг 5
Класс по размеру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Большая → кость
Малая → хрящ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EE"/>
                </a:solidFill>
              </a:rPr>
              <a:t>Сравнение с нейросетевыми методами: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709160"/>
            <a:ext cx="3657600" cy="109728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799BB"/>
                </a:solidFill>
              </a:rPr>
              <a:t>Наш baseline
(Otsu)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0.20–0.35
Работает быстро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60520" y="4709160"/>
            <a:ext cx="365760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99FF"/>
                </a:solidFill>
              </a:rPr>
              <a:t>U-Net
(нейросеть)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0.85–0.90
Требует обучения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4709160"/>
            <a:ext cx="365760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C99"/>
                </a:solidFill>
              </a:rPr>
              <a:t>nnU-Net
(лучший)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0.90–0.95
Государство искусства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9BB"/>
                </a:solidFill>
              </a:rPr>
              <a:t>Dice — мера совпадения: 1.0 = идеально, 0 = нет совпадения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Определение степени артрита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Logistic Regression vs Random Forest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9 / 13</a:t>
            </a:r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01091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99BB"/>
                </a:solidFill>
              </a:rPr>
              <a:t>Матрица ошибок: строки = реальный класс, столбцы = что предсказала модель.
Чем ярче диагональ — тем лучше.</a:t>
            </a:r>
          </a:p>
        </p:txBody>
      </p:sp>
      <p:pic>
        <p:nvPicPr>
          <p:cNvPr id="10" name="Picture 9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539496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5010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99BB"/>
                </a:solidFill>
              </a:rPr>
              <a:t>ROC-кривая: чем выше линия — тем лучше модель различает классы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50992"/>
            <a:ext cx="557784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650992"/>
            <a:ext cx="64008" cy="91440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799BB"/>
                </a:solidFill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0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Простая линейная модель — не справляется
с нелинейными границами классов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650992"/>
            <a:ext cx="557784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5650992"/>
            <a:ext cx="64008" cy="9144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5715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9"/>
                </a:solidFill>
              </a:rPr>
              <a:t>Random Forest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080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Ансамбль деревьев — значительно точнее.
AUC и F1 выше по всем классам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Какие признаки важнее всего?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Random Forest показывает, что влияет на диагноз больше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10 / 13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097280"/>
            <a:ext cx="466344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188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DDEE"/>
                </a:solidFill>
              </a:rPr>
              <a:t>Топ-5 признаков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502920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019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7556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Ширина суставной щели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39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Главный признак артрита — щель сужается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651760"/>
            <a:ext cx="502920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816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670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Остеофиты (наросты)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540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Костные шипы на суставе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566160"/>
            <a:ext cx="502920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730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84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Площадь хряща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684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Истончение хряща при прогрессии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480560"/>
            <a:ext cx="502920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6451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988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Спектральная энергия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828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Изменение текстуры снимка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5394960"/>
            <a:ext cx="502920" cy="82296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5595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799BB"/>
                </a:solidFill>
              </a:rPr>
              <a:t>Резкость снимка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7972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Размытие границ при артрите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Итоговые 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11 / 13</a:t>
            </a:r>
          </a:p>
        </p:txBody>
      </p:sp>
      <p:pic>
        <p:nvPicPr>
          <p:cNvPr id="7" name="Picture 6" descr="classific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2070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Что означают метрики?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783080"/>
            <a:ext cx="54864" cy="7772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FF"/>
                </a:solidFill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Сколько % ответов верных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679192"/>
            <a:ext cx="54864" cy="7772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99"/>
                </a:solidFill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449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 найденных — сколько правильных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575304"/>
            <a:ext cx="54864" cy="777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5935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941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 реальных — сколько нашли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471416"/>
            <a:ext cx="54864" cy="7772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4897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FF"/>
                </a:solidFill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371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Баланс между точностью и полнотой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5367528"/>
            <a:ext cx="54864" cy="7772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5385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99"/>
                </a:solidFill>
              </a:rP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7332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Площадь под кривой: 1.0 = идеал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Выводы и что дальше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521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9FF"/>
                </a:solidFill>
              </a:rPr>
              <a:t>Создан полный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Программа загружает МРТ, обрабатывает, анализирует и выдаёт результат одной командой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176272"/>
            <a:ext cx="64008" cy="10058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311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C99"/>
                </a:solidFill>
              </a:rPr>
              <a:t>Нашли ключевые признаки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Ширина суставной щели и остеофиты — самые важные для определения степени артрита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55264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55264"/>
            <a:ext cx="64008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900"/>
                </a:solidFill>
              </a:rPr>
              <a:t>Random Forest лучше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46704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Ансамблевая модель побеждает линейную — данные нелинейны, и это подтверждает PCA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34256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34256"/>
            <a:ext cx="64008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9FF"/>
                </a:solidFill>
              </a:rPr>
              <a:t>Базовый алгоритм работает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25696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Otsu-сегментация даёт Dice ~0.30 — это отправная точка для улучшений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94960"/>
            <a:ext cx="11612880" cy="11887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99BB"/>
                </a:solidFill>
              </a:rPr>
              <a:t>Что дальше: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5468112"/>
            <a:ext cx="73152" cy="84124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Обучить U-Net
(нейросеть)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468112"/>
            <a:ext cx="73152" cy="84124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253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Проверить на
реальных данных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5468112"/>
            <a:ext cx="73152" cy="8412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Интерфейс для
врача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5669280" cy="54864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C99"/>
                </a:solidFill>
              </a:rPr>
              <a:t>Маратов Ерасыл Балканович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799BB"/>
                </a:solidFill>
              </a:rPr>
              <a:t>7М06101  |  AIU  |  2025–2026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МРТ +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20 признаков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Dice /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U-Net — план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