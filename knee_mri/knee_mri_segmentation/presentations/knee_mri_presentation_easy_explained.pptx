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88825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A273F02-6D7F-4353-9A5E-9E22294DC55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6A8A6A5-F804-4882-958A-26040BA8BEE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3B52A72-E690-4150-9856-4D34B561CE8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2FEAF0B-4B87-4C1E-B502-AE5C388EC2E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1E6478A-7E13-4911-98E1-8719756394D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F2F2507-AB14-47A0-B06B-72424627A4C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71AE595-7F0B-40AA-9870-32777307F4B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8D1E1C6-04EE-4292-96D2-202417E9043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3D7308C-5A4C-423E-BEA2-E0A004ADC29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F7EB281-F018-41C8-B32D-F8F08AD8139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6909F72-8A6A-4D7A-A5E8-639D6120EA9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6583320" cy="685764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00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274320" y="548640"/>
            <a:ext cx="603468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Методы автоматической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сегментации костных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и хрящевых тканей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коленного сустава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274320" y="3383280"/>
            <a:ext cx="6034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099FF"/>
                </a:solidFill>
                <a:effectLst/>
                <a:uFillTx/>
                <a:latin typeface="Calibri"/>
              </a:rPr>
              <a:t>по данным МРТ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Rectangle 5"/>
          <p:cNvSpPr/>
          <p:nvPr/>
        </p:nvSpPr>
        <p:spPr>
          <a:xfrm>
            <a:off x="274320" y="4114800"/>
            <a:ext cx="5303160" cy="45360"/>
          </a:xfrm>
          <a:prstGeom prst="rect">
            <a:avLst/>
          </a:prstGeom>
          <a:solidFill>
            <a:srgbClr val="00CC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274320" y="4251960"/>
            <a:ext cx="5760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0CC99"/>
                </a:solidFill>
                <a:effectLst/>
                <a:uFillTx/>
                <a:latin typeface="Calibri"/>
              </a:rPr>
              <a:t>Маратов Ерасыл Балканович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274320" y="4754880"/>
            <a:ext cx="5760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799BB"/>
                </a:solidFill>
                <a:effectLst/>
                <a:uFillTx/>
                <a:latin typeface="Calibri"/>
              </a:rPr>
              <a:t>7М06101  |  AIU  |  2025–2026  |  Алматы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8" name="Picture 8" descr="kl_seg_samples.png"/>
          <p:cNvPicPr/>
          <p:nvPr/>
        </p:nvPicPr>
        <p:blipFill>
          <a:blip r:embed="rId1"/>
          <a:stretch/>
        </p:blipFill>
        <p:spPr>
          <a:xfrm>
            <a:off x="6675120" y="91440"/>
            <a:ext cx="5394600" cy="667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Rectangle 9"/>
          <p:cNvSpPr/>
          <p:nvPr/>
        </p:nvSpPr>
        <p:spPr>
          <a:xfrm>
            <a:off x="0" y="6793920"/>
            <a:ext cx="12188520" cy="63720"/>
          </a:xfrm>
          <a:prstGeom prst="rect">
            <a:avLst/>
          </a:prstGeom>
          <a:solidFill>
            <a:srgbClr val="00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11274480" y="6510600"/>
            <a:ext cx="77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7799BB"/>
                </a:solidFill>
                <a:effectLst/>
                <a:uFillTx/>
                <a:latin typeface="Calibri"/>
              </a:rPr>
              <a:t>1 / 15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1"/>
          <p:cNvSpPr/>
          <p:nvPr/>
        </p:nvSpPr>
        <p:spPr>
          <a:xfrm>
            <a:off x="0" y="0"/>
            <a:ext cx="12188520" cy="95976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Rectangle 2"/>
          <p:cNvSpPr/>
          <p:nvPr/>
        </p:nvSpPr>
        <p:spPr>
          <a:xfrm>
            <a:off x="0" y="0"/>
            <a:ext cx="91080" cy="959760"/>
          </a:xfrm>
          <a:prstGeom prst="rect">
            <a:avLst/>
          </a:prstGeom>
          <a:solidFill>
            <a:srgbClr val="00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3"/>
          <p:cNvSpPr/>
          <p:nvPr/>
        </p:nvSpPr>
        <p:spPr>
          <a:xfrm>
            <a:off x="228600" y="91440"/>
            <a:ext cx="11429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Зачем нужна автоматическая сегментация?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Rectangle 4"/>
          <p:cNvSpPr/>
          <p:nvPr/>
        </p:nvSpPr>
        <p:spPr>
          <a:xfrm>
            <a:off x="0" y="6793920"/>
            <a:ext cx="12188520" cy="63720"/>
          </a:xfrm>
          <a:prstGeom prst="rect">
            <a:avLst/>
          </a:prstGeom>
          <a:solidFill>
            <a:srgbClr val="00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5"/>
          <p:cNvSpPr/>
          <p:nvPr/>
        </p:nvSpPr>
        <p:spPr>
          <a:xfrm>
            <a:off x="11274480" y="6510600"/>
            <a:ext cx="77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7799BB"/>
                </a:solidFill>
                <a:effectLst/>
                <a:uFillTx/>
                <a:latin typeface="Calibri"/>
              </a:rPr>
              <a:t>2 / 15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Rectangle 6"/>
          <p:cNvSpPr/>
          <p:nvPr/>
        </p:nvSpPr>
        <p:spPr>
          <a:xfrm>
            <a:off x="274320" y="1097280"/>
            <a:ext cx="11612520" cy="118836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Rectangle 7"/>
          <p:cNvSpPr/>
          <p:nvPr/>
        </p:nvSpPr>
        <p:spPr>
          <a:xfrm>
            <a:off x="274320" y="1097280"/>
            <a:ext cx="63720" cy="118836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8"/>
          <p:cNvSpPr/>
          <p:nvPr/>
        </p:nvSpPr>
        <p:spPr>
          <a:xfrm>
            <a:off x="502920" y="1234440"/>
            <a:ext cx="111553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Остеоартрит коленного сустава — 520 млн пациентов в мире. Ранняя диагностика критична.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Rectangle 9"/>
          <p:cNvSpPr/>
          <p:nvPr/>
        </p:nvSpPr>
        <p:spPr>
          <a:xfrm>
            <a:off x="274320" y="2423160"/>
            <a:ext cx="5577480" cy="402300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Rectangle 10"/>
          <p:cNvSpPr/>
          <p:nvPr/>
        </p:nvSpPr>
        <p:spPr>
          <a:xfrm>
            <a:off x="274320" y="2423160"/>
            <a:ext cx="63720" cy="402300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11"/>
          <p:cNvSpPr/>
          <p:nvPr/>
        </p:nvSpPr>
        <p:spPr>
          <a:xfrm>
            <a:off x="502920" y="2514600"/>
            <a:ext cx="5211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9900"/>
                </a:solidFill>
                <a:effectLst/>
                <a:uFillTx/>
                <a:latin typeface="Calibri"/>
              </a:rPr>
              <a:t>Сегодня — вручную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12"/>
          <p:cNvSpPr/>
          <p:nvPr/>
        </p:nvSpPr>
        <p:spPr>
          <a:xfrm>
            <a:off x="502920" y="3017520"/>
            <a:ext cx="521172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5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●  Врач обводит кость и хрящ на каждом МРТ-срезе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5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●  30–90 минут на одного пациента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5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●  Разные врачи — разные оценки одного снимка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5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●  МРТ даёт 20–40 срезов → сотни часов работы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5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●  Поздняя диагностика ухудшает прогноз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Rectangle 13"/>
          <p:cNvSpPr/>
          <p:nvPr/>
        </p:nvSpPr>
        <p:spPr>
          <a:xfrm>
            <a:off x="6035040" y="2423160"/>
            <a:ext cx="5851800" cy="402300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Rectangle 14"/>
          <p:cNvSpPr/>
          <p:nvPr/>
        </p:nvSpPr>
        <p:spPr>
          <a:xfrm>
            <a:off x="6035040" y="2423160"/>
            <a:ext cx="63720" cy="4023000"/>
          </a:xfrm>
          <a:prstGeom prst="rect">
            <a:avLst/>
          </a:prstGeom>
          <a:solidFill>
            <a:srgbClr val="00CC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15"/>
          <p:cNvSpPr/>
          <p:nvPr/>
        </p:nvSpPr>
        <p:spPr>
          <a:xfrm>
            <a:off x="6263640" y="2514600"/>
            <a:ext cx="5486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0CC99"/>
                </a:solidFill>
                <a:effectLst/>
                <a:uFillTx/>
                <a:latin typeface="Calibri"/>
              </a:rPr>
              <a:t>Цель этой работы — автоматически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16"/>
          <p:cNvSpPr/>
          <p:nvPr/>
        </p:nvSpPr>
        <p:spPr>
          <a:xfrm>
            <a:off x="6263640" y="3017520"/>
            <a:ext cx="548604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5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●  Алгоритм находит и выделяет кость и хрящ без врача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5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●  Секунды вместо часа на любом снимке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5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●  Воспроизводимый результат — без субъективности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5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●  Основа для диагностики стадии артрита (шкала KL)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5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●  Сравниваем методы: Otsu → Double-Otsu → U-Net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1"/>
          <p:cNvSpPr/>
          <p:nvPr/>
        </p:nvSpPr>
        <p:spPr>
          <a:xfrm>
            <a:off x="0" y="0"/>
            <a:ext cx="12188520" cy="95976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2"/>
          <p:cNvSpPr/>
          <p:nvPr/>
        </p:nvSpPr>
        <p:spPr>
          <a:xfrm>
            <a:off x="0" y="0"/>
            <a:ext cx="91080" cy="959760"/>
          </a:xfrm>
          <a:prstGeom prst="rect">
            <a:avLst/>
          </a:prstGeom>
          <a:solidFill>
            <a:srgbClr val="00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3"/>
          <p:cNvSpPr/>
          <p:nvPr/>
        </p:nvSpPr>
        <p:spPr>
          <a:xfrm>
            <a:off x="228600" y="91440"/>
            <a:ext cx="11429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Данные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4"/>
          <p:cNvSpPr/>
          <p:nvPr/>
        </p:nvSpPr>
        <p:spPr>
          <a:xfrm>
            <a:off x="228600" y="621720"/>
            <a:ext cx="11429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0099FF"/>
                </a:solidFill>
                <a:effectLst/>
                <a:uFillTx/>
                <a:latin typeface="Calibri"/>
              </a:rPr>
              <a:t>Датасет: 3D Knee MRI Cartilage Segmentation (OAI / Kaggle)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Rectangle 5"/>
          <p:cNvSpPr/>
          <p:nvPr/>
        </p:nvSpPr>
        <p:spPr>
          <a:xfrm>
            <a:off x="0" y="6793920"/>
            <a:ext cx="12188520" cy="63720"/>
          </a:xfrm>
          <a:prstGeom prst="rect">
            <a:avLst/>
          </a:prstGeom>
          <a:solidFill>
            <a:srgbClr val="00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Box 6"/>
          <p:cNvSpPr/>
          <p:nvPr/>
        </p:nvSpPr>
        <p:spPr>
          <a:xfrm>
            <a:off x="11274480" y="6510600"/>
            <a:ext cx="77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7799BB"/>
                </a:solidFill>
                <a:effectLst/>
                <a:uFillTx/>
                <a:latin typeface="Calibri"/>
              </a:rPr>
              <a:t>3 / 15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Rectangle 7"/>
          <p:cNvSpPr/>
          <p:nvPr/>
        </p:nvSpPr>
        <p:spPr>
          <a:xfrm>
            <a:off x="274320" y="1097280"/>
            <a:ext cx="2742840" cy="155412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Rectangle 8"/>
          <p:cNvSpPr/>
          <p:nvPr/>
        </p:nvSpPr>
        <p:spPr>
          <a:xfrm>
            <a:off x="274320" y="1097280"/>
            <a:ext cx="2742840" cy="91080"/>
          </a:xfrm>
          <a:prstGeom prst="rect">
            <a:avLst/>
          </a:prstGeom>
          <a:solidFill>
            <a:srgbClr val="00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9"/>
          <p:cNvSpPr/>
          <p:nvPr/>
        </p:nvSpPr>
        <p:spPr>
          <a:xfrm>
            <a:off x="274320" y="123444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0099FF"/>
                </a:solidFill>
                <a:effectLst/>
                <a:uFillTx/>
                <a:latin typeface="Calibri"/>
              </a:rPr>
              <a:t>Источник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10"/>
          <p:cNvSpPr/>
          <p:nvPr/>
        </p:nvSpPr>
        <p:spPr>
          <a:xfrm>
            <a:off x="274320" y="1572840"/>
            <a:ext cx="27428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Osteoarthritis Initiative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(OAI, Kaggle)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Rectangle 11"/>
          <p:cNvSpPr/>
          <p:nvPr/>
        </p:nvSpPr>
        <p:spPr>
          <a:xfrm>
            <a:off x="3246120" y="1097280"/>
            <a:ext cx="2742840" cy="155412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Rectangle 12"/>
          <p:cNvSpPr/>
          <p:nvPr/>
        </p:nvSpPr>
        <p:spPr>
          <a:xfrm>
            <a:off x="3246120" y="1097280"/>
            <a:ext cx="2742840" cy="91080"/>
          </a:xfrm>
          <a:prstGeom prst="rect">
            <a:avLst/>
          </a:prstGeom>
          <a:solidFill>
            <a:srgbClr val="00CC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13"/>
          <p:cNvSpPr/>
          <p:nvPr/>
        </p:nvSpPr>
        <p:spPr>
          <a:xfrm>
            <a:off x="3246120" y="123444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00CC99"/>
                </a:solidFill>
                <a:effectLst/>
                <a:uFillTx/>
                <a:latin typeface="Calibri"/>
              </a:rPr>
              <a:t>Объём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14"/>
          <p:cNvSpPr/>
          <p:nvPr/>
        </p:nvSpPr>
        <p:spPr>
          <a:xfrm>
            <a:off x="3246120" y="1572840"/>
            <a:ext cx="27428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~1733 2D-срезов МРТ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с экспертными масками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Rectangle 15"/>
          <p:cNvSpPr/>
          <p:nvPr/>
        </p:nvSpPr>
        <p:spPr>
          <a:xfrm>
            <a:off x="6217920" y="1097280"/>
            <a:ext cx="2742840" cy="155412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Rectangle 16"/>
          <p:cNvSpPr/>
          <p:nvPr/>
        </p:nvSpPr>
        <p:spPr>
          <a:xfrm>
            <a:off x="6217920" y="1097280"/>
            <a:ext cx="2742840" cy="9108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Box 17"/>
          <p:cNvSpPr/>
          <p:nvPr/>
        </p:nvSpPr>
        <p:spPr>
          <a:xfrm>
            <a:off x="6217920" y="123444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9900"/>
                </a:solidFill>
                <a:effectLst/>
                <a:uFillTx/>
                <a:latin typeface="Calibri"/>
              </a:rPr>
              <a:t>Стадии KL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18"/>
          <p:cNvSpPr/>
          <p:nvPr/>
        </p:nvSpPr>
        <p:spPr>
          <a:xfrm>
            <a:off x="6217920" y="1572840"/>
            <a:ext cx="27428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 степеней артрита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KL-0 … KL-4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Rectangle 19"/>
          <p:cNvSpPr/>
          <p:nvPr/>
        </p:nvSpPr>
        <p:spPr>
          <a:xfrm>
            <a:off x="9189720" y="1097280"/>
            <a:ext cx="2742840" cy="155412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Rectangle 20"/>
          <p:cNvSpPr/>
          <p:nvPr/>
        </p:nvSpPr>
        <p:spPr>
          <a:xfrm>
            <a:off x="9189720" y="1097280"/>
            <a:ext cx="2742840" cy="91080"/>
          </a:xfrm>
          <a:prstGeom prst="rect">
            <a:avLst/>
          </a:prstGeom>
          <a:solidFill>
            <a:srgbClr val="FF44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Box 21"/>
          <p:cNvSpPr/>
          <p:nvPr/>
        </p:nvSpPr>
        <p:spPr>
          <a:xfrm>
            <a:off x="9189720" y="123444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4455"/>
                </a:solidFill>
                <a:effectLst/>
                <a:uFillTx/>
                <a:latin typeface="Calibri"/>
              </a:rPr>
              <a:t>Оценка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22"/>
          <p:cNvSpPr/>
          <p:nvPr/>
        </p:nvSpPr>
        <p:spPr>
          <a:xfrm>
            <a:off x="9189720" y="1572840"/>
            <a:ext cx="27428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Синтетические данные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(Kaggle: ручная загрузка)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Rectangle 24"/>
          <p:cNvSpPr/>
          <p:nvPr/>
        </p:nvSpPr>
        <p:spPr>
          <a:xfrm>
            <a:off x="5577840" y="2788920"/>
            <a:ext cx="6400440" cy="320004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25"/>
          <p:cNvSpPr/>
          <p:nvPr/>
        </p:nvSpPr>
        <p:spPr>
          <a:xfrm>
            <a:off x="5806440" y="2880360"/>
            <a:ext cx="5943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Шкала KL (Kellgren–Lawrence):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Rectangle 26"/>
          <p:cNvSpPr/>
          <p:nvPr/>
        </p:nvSpPr>
        <p:spPr>
          <a:xfrm>
            <a:off x="5806440" y="3337560"/>
            <a:ext cx="594000" cy="402120"/>
          </a:xfrm>
          <a:prstGeom prst="rect">
            <a:avLst/>
          </a:prstGeom>
          <a:solidFill>
            <a:srgbClr val="00CC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27"/>
          <p:cNvSpPr/>
          <p:nvPr/>
        </p:nvSpPr>
        <p:spPr>
          <a:xfrm>
            <a:off x="5806440" y="3374280"/>
            <a:ext cx="594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E1A2B"/>
                </a:solidFill>
                <a:effectLst/>
                <a:uFillTx/>
                <a:latin typeface="Calibri"/>
              </a:rPr>
              <a:t>KL-0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28"/>
          <p:cNvSpPr/>
          <p:nvPr/>
        </p:nvSpPr>
        <p:spPr>
          <a:xfrm>
            <a:off x="6492240" y="3374280"/>
            <a:ext cx="5303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Норма — сустав здоровый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Rectangle 29"/>
          <p:cNvSpPr/>
          <p:nvPr/>
        </p:nvSpPr>
        <p:spPr>
          <a:xfrm>
            <a:off x="5806440" y="3867840"/>
            <a:ext cx="594000" cy="402120"/>
          </a:xfrm>
          <a:prstGeom prst="rect">
            <a:avLst/>
          </a:prstGeom>
          <a:solidFill>
            <a:srgbClr val="00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30"/>
          <p:cNvSpPr/>
          <p:nvPr/>
        </p:nvSpPr>
        <p:spPr>
          <a:xfrm>
            <a:off x="5806440" y="3904560"/>
            <a:ext cx="594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E1A2B"/>
                </a:solidFill>
                <a:effectLst/>
                <a:uFillTx/>
                <a:latin typeface="Calibri"/>
              </a:rPr>
              <a:t>KL-1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31"/>
          <p:cNvSpPr/>
          <p:nvPr/>
        </p:nvSpPr>
        <p:spPr>
          <a:xfrm>
            <a:off x="6492240" y="3904560"/>
            <a:ext cx="5303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Ранние изменения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Rectangle 32"/>
          <p:cNvSpPr/>
          <p:nvPr/>
        </p:nvSpPr>
        <p:spPr>
          <a:xfrm>
            <a:off x="5806440" y="4398120"/>
            <a:ext cx="594000" cy="40212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33"/>
          <p:cNvSpPr/>
          <p:nvPr/>
        </p:nvSpPr>
        <p:spPr>
          <a:xfrm>
            <a:off x="5806440" y="4434840"/>
            <a:ext cx="594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E1A2B"/>
                </a:solidFill>
                <a:effectLst/>
                <a:uFillTx/>
                <a:latin typeface="Calibri"/>
              </a:rPr>
              <a:t>KL-2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34"/>
          <p:cNvSpPr/>
          <p:nvPr/>
        </p:nvSpPr>
        <p:spPr>
          <a:xfrm>
            <a:off x="6492240" y="4434840"/>
            <a:ext cx="5303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Умеренная стадия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Rectangle 35"/>
          <p:cNvSpPr/>
          <p:nvPr/>
        </p:nvSpPr>
        <p:spPr>
          <a:xfrm>
            <a:off x="5806440" y="4928760"/>
            <a:ext cx="594000" cy="402120"/>
          </a:xfrm>
          <a:prstGeom prst="rect">
            <a:avLst/>
          </a:prstGeom>
          <a:solidFill>
            <a:srgbClr val="FF66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TextBox 36"/>
          <p:cNvSpPr/>
          <p:nvPr/>
        </p:nvSpPr>
        <p:spPr>
          <a:xfrm>
            <a:off x="5806440" y="4965120"/>
            <a:ext cx="594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E1A2B"/>
                </a:solidFill>
                <a:effectLst/>
                <a:uFillTx/>
                <a:latin typeface="Calibri"/>
              </a:rPr>
              <a:t>KL-3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37"/>
          <p:cNvSpPr/>
          <p:nvPr/>
        </p:nvSpPr>
        <p:spPr>
          <a:xfrm>
            <a:off x="6492240" y="4965120"/>
            <a:ext cx="5303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Выраженная стадия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Rectangle 38"/>
          <p:cNvSpPr/>
          <p:nvPr/>
        </p:nvSpPr>
        <p:spPr>
          <a:xfrm>
            <a:off x="5806440" y="5459040"/>
            <a:ext cx="594000" cy="402120"/>
          </a:xfrm>
          <a:prstGeom prst="rect">
            <a:avLst/>
          </a:prstGeom>
          <a:solidFill>
            <a:srgbClr val="FF44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39"/>
          <p:cNvSpPr/>
          <p:nvPr/>
        </p:nvSpPr>
        <p:spPr>
          <a:xfrm>
            <a:off x="5806440" y="5495400"/>
            <a:ext cx="594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E1A2B"/>
                </a:solidFill>
                <a:effectLst/>
                <a:uFillTx/>
                <a:latin typeface="Calibri"/>
              </a:rPr>
              <a:t>KL-4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40"/>
          <p:cNvSpPr/>
          <p:nvPr/>
        </p:nvSpPr>
        <p:spPr>
          <a:xfrm>
            <a:off x="6492240" y="5495400"/>
            <a:ext cx="5303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Тяжёлая стадия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Rectangle 41"/>
          <p:cNvSpPr/>
          <p:nvPr/>
        </p:nvSpPr>
        <p:spPr>
          <a:xfrm>
            <a:off x="5577840" y="6080760"/>
            <a:ext cx="6400440" cy="50256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Rectangle 42"/>
          <p:cNvSpPr/>
          <p:nvPr/>
        </p:nvSpPr>
        <p:spPr>
          <a:xfrm>
            <a:off x="5577840" y="6080760"/>
            <a:ext cx="63720" cy="50256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Box 43"/>
          <p:cNvSpPr/>
          <p:nvPr/>
        </p:nvSpPr>
        <p:spPr>
          <a:xfrm>
            <a:off x="5715000" y="6126480"/>
            <a:ext cx="6126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Датасет содержит экспертные маски (ground truth): каждый пиксель помечен радиологом как кость, хрящ или фон. Именно с ними мы сравниваем наш алгоритм (Dice).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9" name=""/>
          <p:cNvPicPr/>
          <p:nvPr/>
        </p:nvPicPr>
        <p:blipFill>
          <a:blip r:embed="rId1"/>
          <a:stretch/>
        </p:blipFill>
        <p:spPr>
          <a:xfrm>
            <a:off x="118800" y="3657600"/>
            <a:ext cx="5249160" cy="1535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 1"/>
          <p:cNvSpPr/>
          <p:nvPr/>
        </p:nvSpPr>
        <p:spPr>
          <a:xfrm>
            <a:off x="0" y="0"/>
            <a:ext cx="12188520" cy="95976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Rectangle 2"/>
          <p:cNvSpPr/>
          <p:nvPr/>
        </p:nvSpPr>
        <p:spPr>
          <a:xfrm>
            <a:off x="0" y="0"/>
            <a:ext cx="91080" cy="959760"/>
          </a:xfrm>
          <a:prstGeom prst="rect">
            <a:avLst/>
          </a:prstGeom>
          <a:solidFill>
            <a:srgbClr val="00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TextBox 3"/>
          <p:cNvSpPr/>
          <p:nvPr/>
        </p:nvSpPr>
        <p:spPr>
          <a:xfrm>
            <a:off x="228600" y="91440"/>
            <a:ext cx="11429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Что такое сегментация и как измерить точность?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4"/>
          <p:cNvSpPr/>
          <p:nvPr/>
        </p:nvSpPr>
        <p:spPr>
          <a:xfrm>
            <a:off x="228600" y="621720"/>
            <a:ext cx="11429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0099FF"/>
                </a:solidFill>
                <a:effectLst/>
                <a:uFillTx/>
                <a:latin typeface="Calibri"/>
              </a:rPr>
              <a:t>Задача: каждому пикселю присвоить метку — фон / кость / хрящ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Rectangle 5"/>
          <p:cNvSpPr/>
          <p:nvPr/>
        </p:nvSpPr>
        <p:spPr>
          <a:xfrm>
            <a:off x="0" y="6793920"/>
            <a:ext cx="12188520" cy="63720"/>
          </a:xfrm>
          <a:prstGeom prst="rect">
            <a:avLst/>
          </a:prstGeom>
          <a:solidFill>
            <a:srgbClr val="00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Box 6"/>
          <p:cNvSpPr/>
          <p:nvPr/>
        </p:nvSpPr>
        <p:spPr>
          <a:xfrm>
            <a:off x="11274480" y="6510600"/>
            <a:ext cx="77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7799BB"/>
                </a:solidFill>
                <a:effectLst/>
                <a:uFillTx/>
                <a:latin typeface="Calibri"/>
              </a:rPr>
              <a:t>4 / 15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6" name="Picture 7" descr="dice_explained.png"/>
          <p:cNvPicPr/>
          <p:nvPr/>
        </p:nvPicPr>
        <p:blipFill>
          <a:blip r:embed="rId1"/>
          <a:stretch/>
        </p:blipFill>
        <p:spPr>
          <a:xfrm>
            <a:off x="274320" y="1097280"/>
            <a:ext cx="7314840" cy="5394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Rectangle 8"/>
          <p:cNvSpPr/>
          <p:nvPr/>
        </p:nvSpPr>
        <p:spPr>
          <a:xfrm>
            <a:off x="7818120" y="1097280"/>
            <a:ext cx="4114440" cy="539460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Box 9"/>
          <p:cNvSpPr/>
          <p:nvPr/>
        </p:nvSpPr>
        <p:spPr>
          <a:xfrm>
            <a:off x="8001000" y="1207080"/>
            <a:ext cx="3748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F9900"/>
                </a:solidFill>
                <a:effectLst/>
                <a:uFillTx/>
                <a:latin typeface="Calibri"/>
              </a:rPr>
              <a:t>Метрика Dice Score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10"/>
          <p:cNvSpPr/>
          <p:nvPr/>
        </p:nvSpPr>
        <p:spPr>
          <a:xfrm>
            <a:off x="8001000" y="1691640"/>
            <a:ext cx="3748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9900"/>
                </a:solidFill>
                <a:effectLst/>
                <a:uFillTx/>
                <a:latin typeface="Calibri"/>
              </a:rPr>
              <a:t>Dice = 2×TP / (2×TP + FP + FN)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Rectangle 11"/>
          <p:cNvSpPr/>
          <p:nvPr/>
        </p:nvSpPr>
        <p:spPr>
          <a:xfrm>
            <a:off x="8001000" y="2331720"/>
            <a:ext cx="822600" cy="822600"/>
          </a:xfrm>
          <a:prstGeom prst="rect">
            <a:avLst/>
          </a:prstGeom>
          <a:solidFill>
            <a:srgbClr val="FF44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TextBox 12"/>
          <p:cNvSpPr/>
          <p:nvPr/>
        </p:nvSpPr>
        <p:spPr>
          <a:xfrm>
            <a:off x="8001000" y="251460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E1A2B"/>
                </a:solidFill>
                <a:effectLst/>
                <a:uFillTx/>
                <a:latin typeface="Calibri"/>
              </a:rPr>
              <a:t>0.0–0.3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13"/>
          <p:cNvSpPr/>
          <p:nvPr/>
        </p:nvSpPr>
        <p:spPr>
          <a:xfrm>
            <a:off x="8915400" y="2468880"/>
            <a:ext cx="2834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Плохо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(Otsu v1)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Rectangle 14"/>
          <p:cNvSpPr/>
          <p:nvPr/>
        </p:nvSpPr>
        <p:spPr>
          <a:xfrm>
            <a:off x="8001000" y="3246120"/>
            <a:ext cx="822600" cy="82260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15"/>
          <p:cNvSpPr/>
          <p:nvPr/>
        </p:nvSpPr>
        <p:spPr>
          <a:xfrm>
            <a:off x="8001000" y="342900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E1A2B"/>
                </a:solidFill>
                <a:effectLst/>
                <a:uFillTx/>
                <a:latin typeface="Calibri"/>
              </a:rPr>
              <a:t>0.3–0.6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16"/>
          <p:cNvSpPr/>
          <p:nvPr/>
        </p:nvSpPr>
        <p:spPr>
          <a:xfrm>
            <a:off x="8915400" y="3383280"/>
            <a:ext cx="2834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Удовл.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Rectangle 17"/>
          <p:cNvSpPr/>
          <p:nvPr/>
        </p:nvSpPr>
        <p:spPr>
          <a:xfrm>
            <a:off x="8001000" y="4160520"/>
            <a:ext cx="822600" cy="822600"/>
          </a:xfrm>
          <a:prstGeom prst="rect">
            <a:avLst/>
          </a:prstGeom>
          <a:solidFill>
            <a:srgbClr val="00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TextBox 18"/>
          <p:cNvSpPr/>
          <p:nvPr/>
        </p:nvSpPr>
        <p:spPr>
          <a:xfrm>
            <a:off x="8001000" y="434340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E1A2B"/>
                </a:solidFill>
                <a:effectLst/>
                <a:uFillTx/>
                <a:latin typeface="Calibri"/>
              </a:rPr>
              <a:t>0.6–0.8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19"/>
          <p:cNvSpPr/>
          <p:nvPr/>
        </p:nvSpPr>
        <p:spPr>
          <a:xfrm>
            <a:off x="8915400" y="4297680"/>
            <a:ext cx="2834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Хорошо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(наш улучш.)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Rectangle 20"/>
          <p:cNvSpPr/>
          <p:nvPr/>
        </p:nvSpPr>
        <p:spPr>
          <a:xfrm>
            <a:off x="8001000" y="5074920"/>
            <a:ext cx="822600" cy="822600"/>
          </a:xfrm>
          <a:prstGeom prst="rect">
            <a:avLst/>
          </a:prstGeom>
          <a:solidFill>
            <a:srgbClr val="00CC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Box 21"/>
          <p:cNvSpPr/>
          <p:nvPr/>
        </p:nvSpPr>
        <p:spPr>
          <a:xfrm>
            <a:off x="8001000" y="525780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E1A2B"/>
                </a:solidFill>
                <a:effectLst/>
                <a:uFillTx/>
                <a:latin typeface="Calibri"/>
              </a:rPr>
              <a:t>0.8–1.0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22"/>
          <p:cNvSpPr/>
          <p:nvPr/>
        </p:nvSpPr>
        <p:spPr>
          <a:xfrm>
            <a:off x="8915400" y="5212080"/>
            <a:ext cx="2834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Отлично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(U-Net)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23"/>
          <p:cNvSpPr/>
          <p:nvPr/>
        </p:nvSpPr>
        <p:spPr>
          <a:xfrm>
            <a:off x="8001000" y="6080760"/>
            <a:ext cx="3748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i="1" u="none" strike="noStrike">
                <a:solidFill>
                  <a:srgbClr val="7799BB"/>
                </a:solidFill>
                <a:effectLst/>
                <a:uFillTx/>
                <a:latin typeface="Calibri"/>
              </a:rPr>
              <a:t>TP = пиксели, верно найденные алгоритмом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i="1" u="none" strike="noStrike">
                <a:solidFill>
                  <a:srgbClr val="7799BB"/>
                </a:solidFill>
                <a:effectLst/>
                <a:uFillTx/>
                <a:latin typeface="Calibri"/>
              </a:rPr>
              <a:t>FP = лишние (алгоритм нашёл, но их нет)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i="1" u="none" strike="noStrike">
                <a:solidFill>
                  <a:srgbClr val="7799BB"/>
                </a:solidFill>
                <a:effectLst/>
                <a:uFillTx/>
                <a:latin typeface="Calibri"/>
              </a:rPr>
              <a:t>FN = пропущенные (алгоритм не нашёл)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1"/>
          <p:cNvSpPr/>
          <p:nvPr/>
        </p:nvSpPr>
        <p:spPr>
          <a:xfrm>
            <a:off x="0" y="0"/>
            <a:ext cx="12188520" cy="95976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Rectangle 2"/>
          <p:cNvSpPr/>
          <p:nvPr/>
        </p:nvSpPr>
        <p:spPr>
          <a:xfrm>
            <a:off x="0" y="0"/>
            <a:ext cx="91080" cy="959760"/>
          </a:xfrm>
          <a:prstGeom prst="rect">
            <a:avLst/>
          </a:prstGeom>
          <a:solidFill>
            <a:srgbClr val="00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TextBox 3"/>
          <p:cNvSpPr/>
          <p:nvPr/>
        </p:nvSpPr>
        <p:spPr>
          <a:xfrm>
            <a:off x="228600" y="91440"/>
            <a:ext cx="11429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Первый подход: простой порог Otsu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4"/>
          <p:cNvSpPr/>
          <p:nvPr/>
        </p:nvSpPr>
        <p:spPr>
          <a:xfrm>
            <a:off x="228600" y="621720"/>
            <a:ext cx="11429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0099FF"/>
                </a:solidFill>
                <a:effectLst/>
                <a:uFillTx/>
                <a:latin typeface="Calibri"/>
              </a:rPr>
              <a:t>Классификация только по яркости пикселя — без учёта соседей и положения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Rectangle 5"/>
          <p:cNvSpPr/>
          <p:nvPr/>
        </p:nvSpPr>
        <p:spPr>
          <a:xfrm>
            <a:off x="0" y="6793920"/>
            <a:ext cx="12188520" cy="63720"/>
          </a:xfrm>
          <a:prstGeom prst="rect">
            <a:avLst/>
          </a:prstGeom>
          <a:solidFill>
            <a:srgbClr val="00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TextBox 6"/>
          <p:cNvSpPr/>
          <p:nvPr/>
        </p:nvSpPr>
        <p:spPr>
          <a:xfrm>
            <a:off x="11274480" y="6510600"/>
            <a:ext cx="77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7799BB"/>
                </a:solidFill>
                <a:effectLst/>
                <a:uFillTx/>
                <a:latin typeface="Calibri"/>
              </a:rPr>
              <a:t>5 / 15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9" name="Picture 7" descr="seg_pipeline.png"/>
          <p:cNvPicPr/>
          <p:nvPr/>
        </p:nvPicPr>
        <p:blipFill>
          <a:blip r:embed="rId1"/>
          <a:stretch/>
        </p:blipFill>
        <p:spPr>
          <a:xfrm>
            <a:off x="274320" y="1051560"/>
            <a:ext cx="11612520" cy="393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Rectangle 8"/>
          <p:cNvSpPr/>
          <p:nvPr/>
        </p:nvSpPr>
        <p:spPr>
          <a:xfrm>
            <a:off x="274320" y="5120640"/>
            <a:ext cx="11612520" cy="56664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Rectangle 9"/>
          <p:cNvSpPr/>
          <p:nvPr/>
        </p:nvSpPr>
        <p:spPr>
          <a:xfrm>
            <a:off x="274320" y="5120640"/>
            <a:ext cx="63720" cy="566640"/>
          </a:xfrm>
          <a:prstGeom prst="rect">
            <a:avLst/>
          </a:prstGeom>
          <a:solidFill>
            <a:srgbClr val="7799B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Box 10"/>
          <p:cNvSpPr/>
          <p:nvPr/>
        </p:nvSpPr>
        <p:spPr>
          <a:xfrm>
            <a:off x="502920" y="5166360"/>
            <a:ext cx="34743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7799BB"/>
                </a:solidFill>
                <a:effectLst/>
                <a:uFillTx/>
                <a:latin typeface="Calibri"/>
              </a:rPr>
              <a:t>Шаг 1: Нормализация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11"/>
          <p:cNvSpPr/>
          <p:nvPr/>
        </p:nvSpPr>
        <p:spPr>
          <a:xfrm>
            <a:off x="4023360" y="5184720"/>
            <a:ext cx="8229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Привести все пиксели к диапазону 0–255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Rectangle 12"/>
          <p:cNvSpPr/>
          <p:nvPr/>
        </p:nvSpPr>
        <p:spPr>
          <a:xfrm>
            <a:off x="274320" y="5751720"/>
            <a:ext cx="11612520" cy="56664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Rectangle 13"/>
          <p:cNvSpPr/>
          <p:nvPr/>
        </p:nvSpPr>
        <p:spPr>
          <a:xfrm>
            <a:off x="274320" y="5751720"/>
            <a:ext cx="63720" cy="56664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TextBox 14"/>
          <p:cNvSpPr/>
          <p:nvPr/>
        </p:nvSpPr>
        <p:spPr>
          <a:xfrm>
            <a:off x="502920" y="5797440"/>
            <a:ext cx="34743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9900"/>
                </a:solidFill>
                <a:effectLst/>
                <a:uFillTx/>
                <a:latin typeface="Calibri"/>
              </a:rPr>
              <a:t>Шаг 2: Порог Otsu (один)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15"/>
          <p:cNvSpPr/>
          <p:nvPr/>
        </p:nvSpPr>
        <p:spPr>
          <a:xfrm>
            <a:off x="4023360" y="5815440"/>
            <a:ext cx="8229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Автоматически найти t₁ по гистограмме.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Выше t₁ = ткань. Ниже = фон.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Rectangle 16"/>
          <p:cNvSpPr/>
          <p:nvPr/>
        </p:nvSpPr>
        <p:spPr>
          <a:xfrm>
            <a:off x="274320" y="6382440"/>
            <a:ext cx="11612520" cy="56664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Rectangle 17"/>
          <p:cNvSpPr/>
          <p:nvPr/>
        </p:nvSpPr>
        <p:spPr>
          <a:xfrm>
            <a:off x="274320" y="6382440"/>
            <a:ext cx="63720" cy="566640"/>
          </a:xfrm>
          <a:prstGeom prst="rect">
            <a:avLst/>
          </a:prstGeom>
          <a:solidFill>
            <a:srgbClr val="FF44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TextBox 18"/>
          <p:cNvSpPr/>
          <p:nvPr/>
        </p:nvSpPr>
        <p:spPr>
          <a:xfrm>
            <a:off x="502920" y="6428160"/>
            <a:ext cx="34743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4455"/>
                </a:solidFill>
                <a:effectLst/>
                <a:uFillTx/>
                <a:latin typeface="Calibri"/>
              </a:rPr>
              <a:t>Шаг 3: Самый большой блоб = кость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19"/>
          <p:cNvSpPr/>
          <p:nvPr/>
        </p:nvSpPr>
        <p:spPr>
          <a:xfrm>
            <a:off x="4023360" y="6446520"/>
            <a:ext cx="8229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Связные компоненты: наибольшая область → кость,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остальные → хрящ.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Rectangle 20"/>
          <p:cNvSpPr/>
          <p:nvPr/>
        </p:nvSpPr>
        <p:spPr>
          <a:xfrm>
            <a:off x="274320" y="6510600"/>
            <a:ext cx="11612520" cy="27396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Rectangle 21"/>
          <p:cNvSpPr/>
          <p:nvPr/>
        </p:nvSpPr>
        <p:spPr>
          <a:xfrm>
            <a:off x="274320" y="6510600"/>
            <a:ext cx="63720" cy="273960"/>
          </a:xfrm>
          <a:prstGeom prst="rect">
            <a:avLst/>
          </a:prstGeom>
          <a:solidFill>
            <a:srgbClr val="FF44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TextBox 22"/>
          <p:cNvSpPr/>
          <p:nvPr/>
        </p:nvSpPr>
        <p:spPr>
          <a:xfrm>
            <a:off x="457200" y="6546960"/>
            <a:ext cx="11246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Ключевое ограничение: один порог делит только ТКАНЬ / ФОН. Кость и хрящ попадают в один класс.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Rectangle 1"/>
          <p:cNvSpPr/>
          <p:nvPr/>
        </p:nvSpPr>
        <p:spPr>
          <a:xfrm>
            <a:off x="0" y="0"/>
            <a:ext cx="12188520" cy="95976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Rectangle 2"/>
          <p:cNvSpPr/>
          <p:nvPr/>
        </p:nvSpPr>
        <p:spPr>
          <a:xfrm>
            <a:off x="0" y="0"/>
            <a:ext cx="91080" cy="959760"/>
          </a:xfrm>
          <a:prstGeom prst="rect">
            <a:avLst/>
          </a:prstGeom>
          <a:solidFill>
            <a:srgbClr val="00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TextBox 3"/>
          <p:cNvSpPr/>
          <p:nvPr/>
        </p:nvSpPr>
        <p:spPr>
          <a:xfrm>
            <a:off x="228600" y="91440"/>
            <a:ext cx="11429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Результаты первого подхода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4"/>
          <p:cNvSpPr/>
          <p:nvPr/>
        </p:nvSpPr>
        <p:spPr>
          <a:xfrm>
            <a:off x="228600" y="621720"/>
            <a:ext cx="11429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0099FF"/>
                </a:solidFill>
                <a:effectLst/>
                <a:uFillTx/>
                <a:latin typeface="Calibri"/>
              </a:rPr>
              <a:t>Otsu с одним порогом — тест на синтетических данных (KL-0 … KL-4)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Rectangle 5"/>
          <p:cNvSpPr/>
          <p:nvPr/>
        </p:nvSpPr>
        <p:spPr>
          <a:xfrm>
            <a:off x="0" y="6793920"/>
            <a:ext cx="12188520" cy="63720"/>
          </a:xfrm>
          <a:prstGeom prst="rect">
            <a:avLst/>
          </a:prstGeom>
          <a:solidFill>
            <a:srgbClr val="00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TextBox 6"/>
          <p:cNvSpPr/>
          <p:nvPr/>
        </p:nvSpPr>
        <p:spPr>
          <a:xfrm>
            <a:off x="11274480" y="6510600"/>
            <a:ext cx="77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7799BB"/>
                </a:solidFill>
                <a:effectLst/>
                <a:uFillTx/>
                <a:latin typeface="Calibri"/>
              </a:rPr>
              <a:t>6 / 15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1" name="Picture 7" descr="seg_samples.png"/>
          <p:cNvPicPr/>
          <p:nvPr/>
        </p:nvPicPr>
        <p:blipFill>
          <a:blip r:embed="rId1"/>
          <a:stretch/>
        </p:blipFill>
        <p:spPr>
          <a:xfrm>
            <a:off x="274320" y="1097280"/>
            <a:ext cx="7131960" cy="365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2" name="Rectangle 8"/>
          <p:cNvSpPr/>
          <p:nvPr/>
        </p:nvSpPr>
        <p:spPr>
          <a:xfrm>
            <a:off x="7406640" y="1097280"/>
            <a:ext cx="4571640" cy="74952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Rectangle 9"/>
          <p:cNvSpPr/>
          <p:nvPr/>
        </p:nvSpPr>
        <p:spPr>
          <a:xfrm>
            <a:off x="7406640" y="1097280"/>
            <a:ext cx="63720" cy="749520"/>
          </a:xfrm>
          <a:prstGeom prst="rect">
            <a:avLst/>
          </a:prstGeom>
          <a:solidFill>
            <a:srgbClr val="7799B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Box 10"/>
          <p:cNvSpPr/>
          <p:nvPr/>
        </p:nvSpPr>
        <p:spPr>
          <a:xfrm>
            <a:off x="7589520" y="1143000"/>
            <a:ext cx="182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7799BB"/>
                </a:solidFill>
                <a:effectLst/>
                <a:uFillTx/>
                <a:latin typeface="Calibri"/>
              </a:rPr>
              <a:t>Dice — кость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11"/>
          <p:cNvSpPr/>
          <p:nvPr/>
        </p:nvSpPr>
        <p:spPr>
          <a:xfrm>
            <a:off x="9509760" y="1188720"/>
            <a:ext cx="1371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0.20–0.35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12"/>
          <p:cNvSpPr/>
          <p:nvPr/>
        </p:nvSpPr>
        <p:spPr>
          <a:xfrm>
            <a:off x="7589520" y="1517760"/>
            <a:ext cx="4205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Низкий, но кость хотя бы находится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Rectangle 13"/>
          <p:cNvSpPr/>
          <p:nvPr/>
        </p:nvSpPr>
        <p:spPr>
          <a:xfrm>
            <a:off x="7406640" y="1920240"/>
            <a:ext cx="4571640" cy="74952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Rectangle 14"/>
          <p:cNvSpPr/>
          <p:nvPr/>
        </p:nvSpPr>
        <p:spPr>
          <a:xfrm>
            <a:off x="7406640" y="1920240"/>
            <a:ext cx="63720" cy="749520"/>
          </a:xfrm>
          <a:prstGeom prst="rect">
            <a:avLst/>
          </a:prstGeom>
          <a:solidFill>
            <a:srgbClr val="FF44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TextBox 15"/>
          <p:cNvSpPr/>
          <p:nvPr/>
        </p:nvSpPr>
        <p:spPr>
          <a:xfrm>
            <a:off x="7589520" y="1965960"/>
            <a:ext cx="182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4455"/>
                </a:solidFill>
                <a:effectLst/>
                <a:uFillTx/>
                <a:latin typeface="Calibri"/>
              </a:rPr>
              <a:t>Dice — хрящ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16"/>
          <p:cNvSpPr/>
          <p:nvPr/>
        </p:nvSpPr>
        <p:spPr>
          <a:xfrm>
            <a:off x="9509760" y="2011680"/>
            <a:ext cx="1371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≈ 0.000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17"/>
          <p:cNvSpPr/>
          <p:nvPr/>
        </p:nvSpPr>
        <p:spPr>
          <a:xfrm>
            <a:off x="7589520" y="2340720"/>
            <a:ext cx="4205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Хрящ полностью не выделяется!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Rectangle 18"/>
          <p:cNvSpPr/>
          <p:nvPr/>
        </p:nvSpPr>
        <p:spPr>
          <a:xfrm>
            <a:off x="7406640" y="2743200"/>
            <a:ext cx="4571640" cy="74952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Rectangle 19"/>
          <p:cNvSpPr/>
          <p:nvPr/>
        </p:nvSpPr>
        <p:spPr>
          <a:xfrm>
            <a:off x="7406640" y="2743200"/>
            <a:ext cx="63720" cy="749520"/>
          </a:xfrm>
          <a:prstGeom prst="rect">
            <a:avLst/>
          </a:prstGeom>
          <a:solidFill>
            <a:srgbClr val="FF44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extBox 20"/>
          <p:cNvSpPr/>
          <p:nvPr/>
        </p:nvSpPr>
        <p:spPr>
          <a:xfrm>
            <a:off x="7589520" y="2788920"/>
            <a:ext cx="182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4455"/>
                </a:solidFill>
                <a:effectLst/>
                <a:uFillTx/>
                <a:latin typeface="Calibri"/>
              </a:rPr>
              <a:t>Хрящевых px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21"/>
          <p:cNvSpPr/>
          <p:nvPr/>
        </p:nvSpPr>
        <p:spPr>
          <a:xfrm>
            <a:off x="9509760" y="2834640"/>
            <a:ext cx="1371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~0–180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22"/>
          <p:cNvSpPr/>
          <p:nvPr/>
        </p:nvSpPr>
        <p:spPr>
          <a:xfrm>
            <a:off x="7589520" y="3163680"/>
            <a:ext cx="4205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Алгоритм почти не находит хрящ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Rectangle 23"/>
          <p:cNvSpPr/>
          <p:nvPr/>
        </p:nvSpPr>
        <p:spPr>
          <a:xfrm>
            <a:off x="7406640" y="3566160"/>
            <a:ext cx="4571640" cy="74952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Rectangle 24"/>
          <p:cNvSpPr/>
          <p:nvPr/>
        </p:nvSpPr>
        <p:spPr>
          <a:xfrm>
            <a:off x="7406640" y="3566160"/>
            <a:ext cx="63720" cy="74952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TextBox 25"/>
          <p:cNvSpPr/>
          <p:nvPr/>
        </p:nvSpPr>
        <p:spPr>
          <a:xfrm>
            <a:off x="7589520" y="3611880"/>
            <a:ext cx="182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9900"/>
                </a:solidFill>
                <a:effectLst/>
                <a:uFillTx/>
                <a:latin typeface="Calibri"/>
              </a:rPr>
              <a:t>Скорость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26"/>
          <p:cNvSpPr/>
          <p:nvPr/>
        </p:nvSpPr>
        <p:spPr>
          <a:xfrm>
            <a:off x="9509760" y="3657600"/>
            <a:ext cx="1371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 0.1 сек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27"/>
          <p:cNvSpPr/>
          <p:nvPr/>
        </p:nvSpPr>
        <p:spPr>
          <a:xfrm>
            <a:off x="7589520" y="3986640"/>
            <a:ext cx="4205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Единственный плюс — очень быстро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Rectangle 28"/>
          <p:cNvSpPr/>
          <p:nvPr/>
        </p:nvSpPr>
        <p:spPr>
          <a:xfrm>
            <a:off x="7406640" y="4754880"/>
            <a:ext cx="4571640" cy="182844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Rectangle 29"/>
          <p:cNvSpPr/>
          <p:nvPr/>
        </p:nvSpPr>
        <p:spPr>
          <a:xfrm>
            <a:off x="7406640" y="4754880"/>
            <a:ext cx="63720" cy="1828440"/>
          </a:xfrm>
          <a:prstGeom prst="rect">
            <a:avLst/>
          </a:prstGeom>
          <a:solidFill>
            <a:srgbClr val="FF44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TextBox 30"/>
          <p:cNvSpPr/>
          <p:nvPr/>
        </p:nvSpPr>
        <p:spPr>
          <a:xfrm>
            <a:off x="7589520" y="4846320"/>
            <a:ext cx="4205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4455"/>
                </a:solidFill>
                <a:effectLst/>
                <a:uFillTx/>
                <a:latin typeface="Calibri"/>
              </a:rPr>
              <a:t>Почему хрящ не находится?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31"/>
          <p:cNvSpPr/>
          <p:nvPr/>
        </p:nvSpPr>
        <p:spPr>
          <a:xfrm>
            <a:off x="7589520" y="5285160"/>
            <a:ext cx="42058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2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●  Один порог делит только ткань / фон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2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●  Кость и хрящ оба выше порога → один блоб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2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●  Самый большой блоб → всё становится «костью»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2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●  Хрящ получает ноль пикселей → Dice = 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Rectangle 32"/>
          <p:cNvSpPr/>
          <p:nvPr/>
        </p:nvSpPr>
        <p:spPr>
          <a:xfrm>
            <a:off x="274320" y="4892040"/>
            <a:ext cx="7131960" cy="169128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33"/>
          <p:cNvSpPr/>
          <p:nvPr/>
        </p:nvSpPr>
        <p:spPr>
          <a:xfrm>
            <a:off x="457200" y="4983480"/>
            <a:ext cx="67662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600" b="1" u="none" strike="noStrike">
                <a:solidFill>
                  <a:srgbClr val="FF9900"/>
                </a:solidFill>
                <a:effectLst/>
                <a:uFillTx/>
                <a:latin typeface="Calibri"/>
              </a:rPr>
              <a:t>Вывод: первый метод провалился для хряща.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9900"/>
                </a:solidFill>
                <a:effectLst/>
                <a:uFillTx/>
                <a:latin typeface="Calibri"/>
              </a:rPr>
              <a:t>Нужно найти другой способ разделить кость и хрящ.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Rectangle 1"/>
          <p:cNvSpPr/>
          <p:nvPr/>
        </p:nvSpPr>
        <p:spPr>
          <a:xfrm>
            <a:off x="0" y="0"/>
            <a:ext cx="12188520" cy="95976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" name="Rectangle 2"/>
          <p:cNvSpPr/>
          <p:nvPr/>
        </p:nvSpPr>
        <p:spPr>
          <a:xfrm>
            <a:off x="0" y="0"/>
            <a:ext cx="91080" cy="959760"/>
          </a:xfrm>
          <a:prstGeom prst="rect">
            <a:avLst/>
          </a:prstGeom>
          <a:solidFill>
            <a:srgbClr val="00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" name="TextBox 3"/>
          <p:cNvSpPr/>
          <p:nvPr/>
        </p:nvSpPr>
        <p:spPr>
          <a:xfrm>
            <a:off x="228600" y="91440"/>
            <a:ext cx="11429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Анализ провала: почему один порог не работает?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4"/>
          <p:cNvSpPr/>
          <p:nvPr/>
        </p:nvSpPr>
        <p:spPr>
          <a:xfrm>
            <a:off x="228600" y="621720"/>
            <a:ext cx="11429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0099FF"/>
                </a:solidFill>
                <a:effectLst/>
                <a:uFillTx/>
                <a:latin typeface="Calibri"/>
              </a:rPr>
              <a:t>Физи</a:t>
            </a:r>
            <a:r>
              <a:rPr lang="en-US" sz="1300" b="0" i="1" u="none" strike="noStrike">
                <a:solidFill>
                  <a:srgbClr val="0099FF"/>
                </a:solidFill>
                <a:effectLst/>
                <a:uFillTx/>
                <a:latin typeface="Calibri"/>
              </a:rPr>
              <a:t>ка </a:t>
            </a:r>
            <a:r>
              <a:rPr lang="en-US" sz="1300" b="0" i="1" u="none" strike="noStrike">
                <a:solidFill>
                  <a:srgbClr val="0099FF"/>
                </a:solidFill>
                <a:effectLst/>
                <a:uFillTx/>
                <a:latin typeface="Calibri"/>
              </a:rPr>
              <a:t>МРТ-</a:t>
            </a:r>
            <a:r>
              <a:rPr lang="en-US" sz="1300" b="0" i="1" u="none" strike="noStrike">
                <a:solidFill>
                  <a:srgbClr val="0099FF"/>
                </a:solidFill>
                <a:effectLst/>
                <a:uFillTx/>
                <a:latin typeface="Calibri"/>
              </a:rPr>
              <a:t>сигна</a:t>
            </a:r>
            <a:r>
              <a:rPr lang="en-US" sz="1300" b="0" i="1" u="none" strike="noStrike">
                <a:solidFill>
                  <a:srgbClr val="0099FF"/>
                </a:solidFill>
                <a:effectLst/>
                <a:uFillTx/>
                <a:latin typeface="Calibri"/>
              </a:rPr>
              <a:t>ла + </a:t>
            </a:r>
            <a:r>
              <a:rPr lang="en-US" sz="1300" b="0" i="1" u="none" strike="noStrike">
                <a:solidFill>
                  <a:srgbClr val="0099FF"/>
                </a:solidFill>
                <a:effectLst/>
                <a:uFillTx/>
                <a:latin typeface="Calibri"/>
              </a:rPr>
              <a:t>огран</a:t>
            </a:r>
            <a:r>
              <a:rPr lang="en-US" sz="1300" b="0" i="1" u="none" strike="noStrike">
                <a:solidFill>
                  <a:srgbClr val="0099FF"/>
                </a:solidFill>
                <a:effectLst/>
                <a:uFillTx/>
                <a:latin typeface="Calibri"/>
              </a:rPr>
              <a:t>ичени</a:t>
            </a:r>
            <a:r>
              <a:rPr lang="en-US" sz="1300" b="0" i="1" u="none" strike="noStrike">
                <a:solidFill>
                  <a:srgbClr val="0099FF"/>
                </a:solidFill>
                <a:effectLst/>
                <a:uFillTx/>
                <a:latin typeface="Calibri"/>
              </a:rPr>
              <a:t>я </a:t>
            </a:r>
            <a:r>
              <a:rPr lang="en-US" sz="1300" b="0" i="1" u="none" strike="noStrike">
                <a:solidFill>
                  <a:srgbClr val="0099FF"/>
                </a:solidFill>
                <a:effectLst/>
                <a:uFillTx/>
                <a:latin typeface="Calibri"/>
              </a:rPr>
              <a:t>порог</a:t>
            </a:r>
            <a:r>
              <a:rPr lang="en-US" sz="1300" b="0" i="1" u="none" strike="noStrike">
                <a:solidFill>
                  <a:srgbClr val="0099FF"/>
                </a:solidFill>
                <a:effectLst/>
                <a:uFillTx/>
                <a:latin typeface="Calibri"/>
              </a:rPr>
              <a:t>ового </a:t>
            </a:r>
            <a:r>
              <a:rPr lang="en-US" sz="1300" b="0" i="1" u="none" strike="noStrike">
                <a:solidFill>
                  <a:srgbClr val="0099FF"/>
                </a:solidFill>
                <a:effectLst/>
                <a:uFillTx/>
                <a:latin typeface="Calibri"/>
              </a:rPr>
              <a:t>мето</a:t>
            </a:r>
            <a:r>
              <a:rPr lang="en-US" sz="1300" b="0" i="1" u="none" strike="noStrike">
                <a:solidFill>
                  <a:srgbClr val="0099FF"/>
                </a:solidFill>
                <a:effectLst/>
                <a:uFillTx/>
                <a:latin typeface="Calibri"/>
              </a:rPr>
              <a:t>да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Rectangle 5"/>
          <p:cNvSpPr/>
          <p:nvPr/>
        </p:nvSpPr>
        <p:spPr>
          <a:xfrm>
            <a:off x="0" y="6793920"/>
            <a:ext cx="12188520" cy="63720"/>
          </a:xfrm>
          <a:prstGeom prst="rect">
            <a:avLst/>
          </a:prstGeom>
          <a:solidFill>
            <a:srgbClr val="00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TextBox 6"/>
          <p:cNvSpPr/>
          <p:nvPr/>
        </p:nvSpPr>
        <p:spPr>
          <a:xfrm>
            <a:off x="11274480" y="6510600"/>
            <a:ext cx="77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7799BB"/>
                </a:solidFill>
                <a:effectLst/>
                <a:uFillTx/>
                <a:latin typeface="Calibri"/>
              </a:rPr>
              <a:t>7 / 15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4" name="Picture 7" descr="dice_explained.png"/>
          <p:cNvPicPr/>
          <p:nvPr/>
        </p:nvPicPr>
        <p:blipFill>
          <a:blip r:embed="rId1"/>
          <a:stretch/>
        </p:blipFill>
        <p:spPr>
          <a:xfrm>
            <a:off x="274320" y="1097280"/>
            <a:ext cx="5303160" cy="5394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5" name="Rectangle 8"/>
          <p:cNvSpPr/>
          <p:nvPr/>
        </p:nvSpPr>
        <p:spPr>
          <a:xfrm>
            <a:off x="5806440" y="1097280"/>
            <a:ext cx="6126120" cy="123408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Rectangle 9"/>
          <p:cNvSpPr/>
          <p:nvPr/>
        </p:nvSpPr>
        <p:spPr>
          <a:xfrm>
            <a:off x="5806440" y="1097280"/>
            <a:ext cx="63720" cy="1234080"/>
          </a:xfrm>
          <a:prstGeom prst="rect">
            <a:avLst/>
          </a:prstGeom>
          <a:solidFill>
            <a:srgbClr val="FF44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7" name="TextBox 10"/>
          <p:cNvSpPr/>
          <p:nvPr/>
        </p:nvSpPr>
        <p:spPr>
          <a:xfrm>
            <a:off x="5989320" y="1170360"/>
            <a:ext cx="5760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4455"/>
                </a:solidFill>
                <a:effectLst/>
                <a:uFillTx/>
                <a:latin typeface="Calibri"/>
              </a:rPr>
              <a:t>Одинаковая яркость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11"/>
          <p:cNvSpPr/>
          <p:nvPr/>
        </p:nvSpPr>
        <p:spPr>
          <a:xfrm>
            <a:off x="5989320" y="1609200"/>
            <a:ext cx="57603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В МРТ кость </a:t>
            </a:r>
            <a:r>
              <a:rPr lang="en-US" sz="12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и хрящ дают </a:t>
            </a:r>
            <a:r>
              <a:rPr lang="en-US" sz="12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схожий </a:t>
            </a:r>
            <a:r>
              <a:rPr lang="en-US" sz="12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сигнал. Один </a:t>
            </a:r>
            <a:r>
              <a:rPr lang="en-US" sz="12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порог t₁ </a:t>
            </a:r>
            <a:r>
              <a:rPr lang="en-US" sz="12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помещает </a:t>
            </a:r>
            <a:r>
              <a:rPr lang="en-US" sz="12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оба в один </a:t>
            </a:r>
            <a:r>
              <a:rPr lang="en-US" sz="12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класс </a:t>
            </a:r>
            <a:r>
              <a:rPr lang="en-US" sz="12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«ткань».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Rectangle 12"/>
          <p:cNvSpPr/>
          <p:nvPr/>
        </p:nvSpPr>
        <p:spPr>
          <a:xfrm>
            <a:off x="5806440" y="2441520"/>
            <a:ext cx="6126120" cy="123408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0" name="Rectangle 13"/>
          <p:cNvSpPr/>
          <p:nvPr/>
        </p:nvSpPr>
        <p:spPr>
          <a:xfrm>
            <a:off x="5806440" y="2441520"/>
            <a:ext cx="63720" cy="123408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TextBox 14"/>
          <p:cNvSpPr/>
          <p:nvPr/>
        </p:nvSpPr>
        <p:spPr>
          <a:xfrm>
            <a:off x="5989320" y="2514600"/>
            <a:ext cx="5760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9900"/>
                </a:solidFill>
                <a:effectLst/>
                <a:uFillTx/>
                <a:latin typeface="Calibri"/>
              </a:rPr>
              <a:t>Хрящ — тонкий слой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15"/>
          <p:cNvSpPr/>
          <p:nvPr/>
        </p:nvSpPr>
        <p:spPr>
          <a:xfrm>
            <a:off x="5989320" y="2953440"/>
            <a:ext cx="57603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Толщина хряща 2–5 мм. Он расположен вплотную к кости. Алгоритм не видит, где заканчивается кость и начинается хрящ.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Rectangle 16"/>
          <p:cNvSpPr/>
          <p:nvPr/>
        </p:nvSpPr>
        <p:spPr>
          <a:xfrm>
            <a:off x="5806440" y="3785760"/>
            <a:ext cx="6126120" cy="123408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Rectangle 17"/>
          <p:cNvSpPr/>
          <p:nvPr/>
        </p:nvSpPr>
        <p:spPr>
          <a:xfrm>
            <a:off x="5806440" y="3785760"/>
            <a:ext cx="63720" cy="1234080"/>
          </a:xfrm>
          <a:prstGeom prst="rect">
            <a:avLst/>
          </a:prstGeom>
          <a:solidFill>
            <a:srgbClr val="00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TextBox 18"/>
          <p:cNvSpPr/>
          <p:nvPr/>
        </p:nvSpPr>
        <p:spPr>
          <a:xfrm>
            <a:off x="5989320" y="3858840"/>
            <a:ext cx="5760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099FF"/>
                </a:solidFill>
                <a:effectLst/>
                <a:uFillTx/>
                <a:latin typeface="Calibri"/>
              </a:rPr>
              <a:t>Нет знания о форме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19"/>
          <p:cNvSpPr/>
          <p:nvPr/>
        </p:nvSpPr>
        <p:spPr>
          <a:xfrm>
            <a:off x="5989320" y="4297680"/>
            <a:ext cx="57603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Otsu не знает: «кость — большая эллипсовидная масса, хрящ — тонкая дуга рядом с ней». Решение только по яркости.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Rectangle 20"/>
          <p:cNvSpPr/>
          <p:nvPr/>
        </p:nvSpPr>
        <p:spPr>
          <a:xfrm>
            <a:off x="5806440" y="5129640"/>
            <a:ext cx="6126120" cy="123408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8" name="Rectangle 21"/>
          <p:cNvSpPr/>
          <p:nvPr/>
        </p:nvSpPr>
        <p:spPr>
          <a:xfrm>
            <a:off x="5806440" y="5129640"/>
            <a:ext cx="63720" cy="1234080"/>
          </a:xfrm>
          <a:prstGeom prst="rect">
            <a:avLst/>
          </a:prstGeom>
          <a:solidFill>
            <a:srgbClr val="00CC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9" name="TextBox 22"/>
          <p:cNvSpPr/>
          <p:nvPr/>
        </p:nvSpPr>
        <p:spPr>
          <a:xfrm>
            <a:off x="5989320" y="5203080"/>
            <a:ext cx="5760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0CC99"/>
                </a:solidFill>
                <a:effectLst/>
                <a:uFillTx/>
                <a:latin typeface="Calibri"/>
              </a:rPr>
              <a:t>Что нужно сделать?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23"/>
          <p:cNvSpPr/>
          <p:nvPr/>
        </p:nvSpPr>
        <p:spPr>
          <a:xfrm>
            <a:off x="5989320" y="5641920"/>
            <a:ext cx="57603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Найти ВТОРОЙ порог внутри ткани: разделить кость (средняя яркость) от хряща (более высокая яркость в МРТ Т2).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Rectangle 1"/>
          <p:cNvSpPr/>
          <p:nvPr/>
        </p:nvSpPr>
        <p:spPr>
          <a:xfrm>
            <a:off x="0" y="0"/>
            <a:ext cx="12188520" cy="95976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2" name="Rectangle 2"/>
          <p:cNvSpPr/>
          <p:nvPr/>
        </p:nvSpPr>
        <p:spPr>
          <a:xfrm>
            <a:off x="0" y="0"/>
            <a:ext cx="91080" cy="959760"/>
          </a:xfrm>
          <a:prstGeom prst="rect">
            <a:avLst/>
          </a:prstGeom>
          <a:solidFill>
            <a:srgbClr val="00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3" name="TextBox 3"/>
          <p:cNvSpPr/>
          <p:nvPr/>
        </p:nvSpPr>
        <p:spPr>
          <a:xfrm>
            <a:off x="228600" y="91440"/>
            <a:ext cx="11429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Обзор литературы: что улучшает сегментацию МРТ?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4"/>
          <p:cNvSpPr/>
          <p:nvPr/>
        </p:nvSpPr>
        <p:spPr>
          <a:xfrm>
            <a:off x="228600" y="621720"/>
            <a:ext cx="11429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0099FF"/>
                </a:solidFill>
                <a:effectLst/>
                <a:uFillTx/>
                <a:latin typeface="Calibri"/>
              </a:rPr>
              <a:t>Изучили статьи по сегментации коленного сустава → нашли ключевые техники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Rectangle 5"/>
          <p:cNvSpPr/>
          <p:nvPr/>
        </p:nvSpPr>
        <p:spPr>
          <a:xfrm>
            <a:off x="0" y="6793920"/>
            <a:ext cx="12188520" cy="63720"/>
          </a:xfrm>
          <a:prstGeom prst="rect">
            <a:avLst/>
          </a:prstGeom>
          <a:solidFill>
            <a:srgbClr val="00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6" name="TextBox 6"/>
          <p:cNvSpPr/>
          <p:nvPr/>
        </p:nvSpPr>
        <p:spPr>
          <a:xfrm>
            <a:off x="11274480" y="6510600"/>
            <a:ext cx="77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7799BB"/>
                </a:solidFill>
                <a:effectLst/>
                <a:uFillTx/>
                <a:latin typeface="Calibri"/>
              </a:rPr>
              <a:t>8 / 15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Rectangle 7"/>
          <p:cNvSpPr/>
          <p:nvPr/>
        </p:nvSpPr>
        <p:spPr>
          <a:xfrm>
            <a:off x="274320" y="1097280"/>
            <a:ext cx="5668920" cy="251424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8" name="Rectangle 8"/>
          <p:cNvSpPr/>
          <p:nvPr/>
        </p:nvSpPr>
        <p:spPr>
          <a:xfrm>
            <a:off x="274320" y="1097280"/>
            <a:ext cx="63720" cy="251424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TextBox 9"/>
          <p:cNvSpPr/>
          <p:nvPr/>
        </p:nvSpPr>
        <p:spPr>
          <a:xfrm>
            <a:off x="457200" y="1188720"/>
            <a:ext cx="5303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500" b="1" u="none" strike="noStrike">
                <a:solidFill>
                  <a:srgbClr val="FF9900"/>
                </a:solidFill>
                <a:effectLst/>
                <a:uFillTx/>
                <a:latin typeface="Calibri"/>
              </a:rPr>
              <a:t>Multi-level Otsu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9900"/>
                </a:solidFill>
                <a:effectLst/>
                <a:uFillTx/>
                <a:latin typeface="Calibri"/>
              </a:rPr>
              <a:t>(Otsu, 1979; Liao, 2001)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10"/>
          <p:cNvSpPr/>
          <p:nvPr/>
        </p:nvSpPr>
        <p:spPr>
          <a:xfrm>
            <a:off x="457200" y="1874520"/>
            <a:ext cx="53031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Вместо одного порога — несколько.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Разделить пиксели на 3+ кластера по яркости.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→ Отдельный порог для кости и хряща.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11"/>
          <p:cNvSpPr/>
          <p:nvPr/>
        </p:nvSpPr>
        <p:spPr>
          <a:xfrm>
            <a:off x="457200" y="3273480"/>
            <a:ext cx="5303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900" b="0" i="1" u="none" strike="noStrike">
                <a:solidFill>
                  <a:srgbClr val="7799BB"/>
                </a:solidFill>
                <a:effectLst/>
                <a:uFillTx/>
                <a:latin typeface="Calibri"/>
              </a:rPr>
              <a:t>Otsu IEEE Trans. 1979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i="1" u="none" strike="noStrike">
                <a:solidFill>
                  <a:srgbClr val="7799BB"/>
                </a:solidFill>
                <a:effectLst/>
                <a:uFillTx/>
                <a:latin typeface="Calibri"/>
              </a:rPr>
              <a:t>Liao et al. 2001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Rectangle 12"/>
          <p:cNvSpPr/>
          <p:nvPr/>
        </p:nvSpPr>
        <p:spPr>
          <a:xfrm>
            <a:off x="6217920" y="1097280"/>
            <a:ext cx="5668920" cy="251424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3" name="Rectangle 13"/>
          <p:cNvSpPr/>
          <p:nvPr/>
        </p:nvSpPr>
        <p:spPr>
          <a:xfrm>
            <a:off x="6217920" y="1097280"/>
            <a:ext cx="63720" cy="2514240"/>
          </a:xfrm>
          <a:prstGeom prst="rect">
            <a:avLst/>
          </a:prstGeom>
          <a:solidFill>
            <a:srgbClr val="00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4" name="TextBox 14"/>
          <p:cNvSpPr/>
          <p:nvPr/>
        </p:nvSpPr>
        <p:spPr>
          <a:xfrm>
            <a:off x="6400800" y="1188720"/>
            <a:ext cx="5303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500" b="1" u="none" strike="noStrike">
                <a:solidFill>
                  <a:srgbClr val="0099FF"/>
                </a:solidFill>
                <a:effectLst/>
                <a:uFillTx/>
                <a:latin typeface="Calibri"/>
              </a:rPr>
              <a:t>CLAHE — контрастирование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099FF"/>
                </a:solidFill>
                <a:effectLst/>
                <a:uFillTx/>
                <a:latin typeface="Calibri"/>
              </a:rPr>
              <a:t>(Zuiderveld, 1994)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15"/>
          <p:cNvSpPr/>
          <p:nvPr/>
        </p:nvSpPr>
        <p:spPr>
          <a:xfrm>
            <a:off x="6400800" y="1874520"/>
            <a:ext cx="53031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Адаптивное усиление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локального контраста.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МРТ-снимки имеют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неравномерную яркость.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→ Хрящ становится заметнее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перед порогом.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16"/>
          <p:cNvSpPr/>
          <p:nvPr/>
        </p:nvSpPr>
        <p:spPr>
          <a:xfrm>
            <a:off x="6400800" y="3273480"/>
            <a:ext cx="5303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i="1" u="none" strike="noStrike">
                <a:solidFill>
                  <a:srgbClr val="7799BB"/>
                </a:solidFill>
                <a:effectLst/>
                <a:uFillTx/>
                <a:latin typeface="Calibri"/>
              </a:rPr>
              <a:t>Zuiderveld, Graphics Gems 1994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Rectangle 17"/>
          <p:cNvSpPr/>
          <p:nvPr/>
        </p:nvSpPr>
        <p:spPr>
          <a:xfrm>
            <a:off x="274320" y="3840480"/>
            <a:ext cx="5668920" cy="251424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8" name="Rectangle 18"/>
          <p:cNvSpPr/>
          <p:nvPr/>
        </p:nvSpPr>
        <p:spPr>
          <a:xfrm>
            <a:off x="274320" y="3840480"/>
            <a:ext cx="63720" cy="2514240"/>
          </a:xfrm>
          <a:prstGeom prst="rect">
            <a:avLst/>
          </a:prstGeom>
          <a:solidFill>
            <a:srgbClr val="00CC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9" name="TextBox 19"/>
          <p:cNvSpPr/>
          <p:nvPr/>
        </p:nvSpPr>
        <p:spPr>
          <a:xfrm>
            <a:off x="457200" y="3931920"/>
            <a:ext cx="5303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500" b="1" u="none" strike="noStrike">
                <a:solidFill>
                  <a:srgbClr val="00CC99"/>
                </a:solidFill>
                <a:effectLst/>
                <a:uFillTx/>
                <a:latin typeface="Calibri"/>
              </a:rPr>
              <a:t>Морфол</a:t>
            </a:r>
            <a:r>
              <a:rPr lang="en-US" sz="1500" b="1" u="none" strike="noStrike">
                <a:solidFill>
                  <a:srgbClr val="00CC99"/>
                </a:solidFill>
                <a:effectLst/>
                <a:uFillTx/>
                <a:latin typeface="Calibri"/>
              </a:rPr>
              <a:t>огически</a:t>
            </a:r>
            <a:r>
              <a:rPr lang="en-US" sz="1500" b="1" u="none" strike="noStrike">
                <a:solidFill>
                  <a:srgbClr val="00CC99"/>
                </a:solidFill>
                <a:effectLst/>
                <a:uFillTx/>
                <a:latin typeface="Calibri"/>
              </a:rPr>
              <a:t>е </a:t>
            </a:r>
            <a:r>
              <a:rPr lang="en-US" sz="1500" b="1" u="none" strike="noStrike">
                <a:solidFill>
                  <a:srgbClr val="00CC99"/>
                </a:solidFill>
                <a:effectLst/>
                <a:uFillTx/>
                <a:latin typeface="Calibri"/>
              </a:rPr>
              <a:t>операци</a:t>
            </a:r>
            <a:r>
              <a:rPr lang="en-US" sz="1500" b="1" u="none" strike="noStrike">
                <a:solidFill>
                  <a:srgbClr val="00CC99"/>
                </a:solidFill>
                <a:effectLst/>
                <a:uFillTx/>
                <a:latin typeface="Calibri"/>
              </a:rPr>
              <a:t>и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0CC99"/>
                </a:solidFill>
                <a:effectLst/>
                <a:uFillTx/>
                <a:latin typeface="Calibri"/>
              </a:rPr>
              <a:t>(Serra, </a:t>
            </a:r>
            <a:r>
              <a:rPr lang="en-US" sz="1500" b="1" u="none" strike="noStrike">
                <a:solidFill>
                  <a:srgbClr val="00CC99"/>
                </a:solidFill>
                <a:effectLst/>
                <a:uFillTx/>
                <a:latin typeface="Calibri"/>
              </a:rPr>
              <a:t>1982)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20"/>
          <p:cNvSpPr/>
          <p:nvPr/>
        </p:nvSpPr>
        <p:spPr>
          <a:xfrm>
            <a:off x="457200" y="4617720"/>
            <a:ext cx="53031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Closing (закрытие) заполняет дыры в маске.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Opening (открытие) удаляет шум.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→ Более чистые контуры кости и хряща.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21"/>
          <p:cNvSpPr/>
          <p:nvPr/>
        </p:nvSpPr>
        <p:spPr>
          <a:xfrm>
            <a:off x="457200" y="6016680"/>
            <a:ext cx="5303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900" b="0" i="1" u="none" strike="noStrike">
                <a:solidFill>
                  <a:srgbClr val="7799BB"/>
                </a:solidFill>
                <a:effectLst/>
                <a:uFillTx/>
                <a:latin typeface="Calibri"/>
              </a:rPr>
              <a:t>Serra, Image Analysis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i="1" u="none" strike="noStrike">
                <a:solidFill>
                  <a:srgbClr val="7799BB"/>
                </a:solidFill>
                <a:effectLst/>
                <a:uFillTx/>
                <a:latin typeface="Calibri"/>
              </a:rPr>
              <a:t>and Math. Morph. 1982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Rectangle 22"/>
          <p:cNvSpPr/>
          <p:nvPr/>
        </p:nvSpPr>
        <p:spPr>
          <a:xfrm>
            <a:off x="6217920" y="3840480"/>
            <a:ext cx="5668920" cy="251424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3" name="Rectangle 23"/>
          <p:cNvSpPr/>
          <p:nvPr/>
        </p:nvSpPr>
        <p:spPr>
          <a:xfrm>
            <a:off x="6217920" y="3840480"/>
            <a:ext cx="63720" cy="2514240"/>
          </a:xfrm>
          <a:prstGeom prst="rect">
            <a:avLst/>
          </a:prstGeom>
          <a:solidFill>
            <a:srgbClr val="7799B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4" name="TextBox 24"/>
          <p:cNvSpPr/>
          <p:nvPr/>
        </p:nvSpPr>
        <p:spPr>
          <a:xfrm>
            <a:off x="6400800" y="3931920"/>
            <a:ext cx="5303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500" b="1" u="none" strike="noStrike">
                <a:solidFill>
                  <a:srgbClr val="7799BB"/>
                </a:solidFill>
                <a:effectLst/>
                <a:uFillTx/>
                <a:latin typeface="Calibri"/>
              </a:rPr>
              <a:t>U-Net / nnU-Net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7799BB"/>
                </a:solidFill>
                <a:effectLst/>
                <a:uFillTx/>
                <a:latin typeface="Calibri"/>
              </a:rPr>
              <a:t>(Ronneberger 2015; </a:t>
            </a:r>
            <a:r>
              <a:rPr lang="en-US" sz="1500" b="1" u="none" strike="noStrike">
                <a:solidFill>
                  <a:srgbClr val="7799BB"/>
                </a:solidFill>
                <a:effectLst/>
                <a:uFillTx/>
                <a:latin typeface="Calibri"/>
              </a:rPr>
              <a:t>Isensee 2021)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25"/>
          <p:cNvSpPr/>
          <p:nvPr/>
        </p:nvSpPr>
        <p:spPr>
          <a:xfrm>
            <a:off x="6400800" y="4617720"/>
            <a:ext cx="53031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Свёрточная нейросеть. Учится на парах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(МРТ, маска). Dice 0.85–0.95.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→ Требует GPU и 1000+ примеров.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26"/>
          <p:cNvSpPr/>
          <p:nvPr/>
        </p:nvSpPr>
        <p:spPr>
          <a:xfrm>
            <a:off x="6400800" y="6016680"/>
            <a:ext cx="5303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900" b="0" i="1" u="none" strike="noStrike">
                <a:solidFill>
                  <a:srgbClr val="7799BB"/>
                </a:solidFill>
                <a:effectLst/>
                <a:uFillTx/>
                <a:latin typeface="Calibri"/>
              </a:rPr>
              <a:t>Ronneberger et al. MICCAI 2015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i="1" u="none" strike="noStrike">
                <a:solidFill>
                  <a:srgbClr val="7799BB"/>
                </a:solidFill>
                <a:effectLst/>
                <a:uFillTx/>
                <a:latin typeface="Calibri"/>
              </a:rPr>
              <a:t>Isensee et al. Nature Methods 2021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Rectangle 27"/>
          <p:cNvSpPr/>
          <p:nvPr/>
        </p:nvSpPr>
        <p:spPr>
          <a:xfrm>
            <a:off x="274320" y="6492240"/>
            <a:ext cx="11612520" cy="27396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8" name="Rectangle 28"/>
          <p:cNvSpPr/>
          <p:nvPr/>
        </p:nvSpPr>
        <p:spPr>
          <a:xfrm>
            <a:off x="274320" y="6492240"/>
            <a:ext cx="63720" cy="273960"/>
          </a:xfrm>
          <a:prstGeom prst="rect">
            <a:avLst/>
          </a:prstGeom>
          <a:solidFill>
            <a:srgbClr val="00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9" name="TextBox 29"/>
          <p:cNvSpPr/>
          <p:nvPr/>
        </p:nvSpPr>
        <p:spPr>
          <a:xfrm>
            <a:off x="457200" y="6528960"/>
            <a:ext cx="11246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Применили: Multi-level Otsu + 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морфология → Double-Otsu метод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Rectangle 1"/>
          <p:cNvSpPr/>
          <p:nvPr/>
        </p:nvSpPr>
        <p:spPr>
          <a:xfrm>
            <a:off x="0" y="0"/>
            <a:ext cx="12188520" cy="95976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1" name="Rectangle 2"/>
          <p:cNvSpPr/>
          <p:nvPr/>
        </p:nvSpPr>
        <p:spPr>
          <a:xfrm>
            <a:off x="0" y="0"/>
            <a:ext cx="91080" cy="959760"/>
          </a:xfrm>
          <a:prstGeom prst="rect">
            <a:avLst/>
          </a:prstGeom>
          <a:solidFill>
            <a:srgbClr val="00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2" name="TextBox 3"/>
          <p:cNvSpPr/>
          <p:nvPr/>
        </p:nvSpPr>
        <p:spPr>
          <a:xfrm>
            <a:off x="228600" y="91440"/>
            <a:ext cx="11429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Улучшенный метод: Double-Otsu сегментация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4"/>
          <p:cNvSpPr/>
          <p:nvPr/>
        </p:nvSpPr>
        <p:spPr>
          <a:xfrm>
            <a:off x="228600" y="621720"/>
            <a:ext cx="11429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0099FF"/>
                </a:solidFill>
                <a:effectLst/>
                <a:uFillTx/>
                <a:latin typeface="Calibri"/>
              </a:rPr>
              <a:t>Два последовательных порога + морфологическое уточнение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Rectangle 5"/>
          <p:cNvSpPr/>
          <p:nvPr/>
        </p:nvSpPr>
        <p:spPr>
          <a:xfrm>
            <a:off x="0" y="6793920"/>
            <a:ext cx="12188520" cy="63720"/>
          </a:xfrm>
          <a:prstGeom prst="rect">
            <a:avLst/>
          </a:prstGeom>
          <a:solidFill>
            <a:srgbClr val="00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5" name="TextBox 6"/>
          <p:cNvSpPr/>
          <p:nvPr/>
        </p:nvSpPr>
        <p:spPr>
          <a:xfrm>
            <a:off x="11274480" y="6510600"/>
            <a:ext cx="77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7799BB"/>
                </a:solidFill>
                <a:effectLst/>
                <a:uFillTx/>
                <a:latin typeface="Calibri"/>
              </a:rPr>
              <a:t>9 / 15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6" name="Picture 7" descr="seg_pipeline.png"/>
          <p:cNvPicPr/>
          <p:nvPr/>
        </p:nvPicPr>
        <p:blipFill>
          <a:blip r:embed="rId1"/>
          <a:stretch/>
        </p:blipFill>
        <p:spPr>
          <a:xfrm>
            <a:off x="274320" y="1051560"/>
            <a:ext cx="11612520" cy="347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7" name="Rectangle 8"/>
          <p:cNvSpPr/>
          <p:nvPr/>
        </p:nvSpPr>
        <p:spPr>
          <a:xfrm>
            <a:off x="274320" y="4754880"/>
            <a:ext cx="2834280" cy="191988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8" name="Rectangle 9"/>
          <p:cNvSpPr/>
          <p:nvPr/>
        </p:nvSpPr>
        <p:spPr>
          <a:xfrm>
            <a:off x="274320" y="4754880"/>
            <a:ext cx="63720" cy="1919880"/>
          </a:xfrm>
          <a:prstGeom prst="rect">
            <a:avLst/>
          </a:prstGeom>
          <a:solidFill>
            <a:srgbClr val="7799B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9" name="TextBox 10"/>
          <p:cNvSpPr/>
          <p:nvPr/>
        </p:nvSpPr>
        <p:spPr>
          <a:xfrm>
            <a:off x="384120" y="4827960"/>
            <a:ext cx="2834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7799BB"/>
                </a:solidFill>
                <a:effectLst/>
                <a:uFillTx/>
                <a:latin typeface="Calibri"/>
              </a:rPr>
              <a:t>Шаг 1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Box 11"/>
          <p:cNvSpPr/>
          <p:nvPr/>
        </p:nvSpPr>
        <p:spPr>
          <a:xfrm>
            <a:off x="384120" y="5166360"/>
            <a:ext cx="2651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Нормализация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Box 12"/>
          <p:cNvSpPr/>
          <p:nvPr/>
        </p:nvSpPr>
        <p:spPr>
          <a:xfrm>
            <a:off x="384120" y="5650920"/>
            <a:ext cx="26514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Привести пиксели 0–255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Rectangle 13"/>
          <p:cNvSpPr/>
          <p:nvPr/>
        </p:nvSpPr>
        <p:spPr>
          <a:xfrm>
            <a:off x="3246120" y="4754880"/>
            <a:ext cx="2834280" cy="191988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3" name="Rectangle 14"/>
          <p:cNvSpPr/>
          <p:nvPr/>
        </p:nvSpPr>
        <p:spPr>
          <a:xfrm>
            <a:off x="3246120" y="4754880"/>
            <a:ext cx="63720" cy="191988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4" name="TextBox 15"/>
          <p:cNvSpPr/>
          <p:nvPr/>
        </p:nvSpPr>
        <p:spPr>
          <a:xfrm>
            <a:off x="3355920" y="4827960"/>
            <a:ext cx="2834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9900"/>
                </a:solidFill>
                <a:effectLst/>
                <a:uFillTx/>
                <a:latin typeface="Calibri"/>
              </a:rPr>
              <a:t>Шаг 2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Box 16"/>
          <p:cNvSpPr/>
          <p:nvPr/>
        </p:nvSpPr>
        <p:spPr>
          <a:xfrm>
            <a:off x="3355920" y="5166360"/>
            <a:ext cx="2651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Otsu t₁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17"/>
          <p:cNvSpPr/>
          <p:nvPr/>
        </p:nvSpPr>
        <p:spPr>
          <a:xfrm>
            <a:off x="3355920" y="5650920"/>
            <a:ext cx="26514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Ткань vs фон. t₁ авто по всей гистограмме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Rectangle 18"/>
          <p:cNvSpPr/>
          <p:nvPr/>
        </p:nvSpPr>
        <p:spPr>
          <a:xfrm>
            <a:off x="6217920" y="4754880"/>
            <a:ext cx="2834280" cy="191988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8" name="Rectangle 19"/>
          <p:cNvSpPr/>
          <p:nvPr/>
        </p:nvSpPr>
        <p:spPr>
          <a:xfrm>
            <a:off x="6217920" y="4754880"/>
            <a:ext cx="63720" cy="1919880"/>
          </a:xfrm>
          <a:prstGeom prst="rect">
            <a:avLst/>
          </a:prstGeom>
          <a:solidFill>
            <a:srgbClr val="00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9" name="TextBox 20"/>
          <p:cNvSpPr/>
          <p:nvPr/>
        </p:nvSpPr>
        <p:spPr>
          <a:xfrm>
            <a:off x="6327720" y="4827960"/>
            <a:ext cx="2834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99FF"/>
                </a:solidFill>
                <a:effectLst/>
                <a:uFillTx/>
                <a:latin typeface="Calibri"/>
              </a:rPr>
              <a:t>Шаг 3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21"/>
          <p:cNvSpPr/>
          <p:nvPr/>
        </p:nvSpPr>
        <p:spPr>
          <a:xfrm>
            <a:off x="6327720" y="5166360"/>
            <a:ext cx="2651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Otsu t₂ внутри ткани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22"/>
          <p:cNvSpPr/>
          <p:nvPr/>
        </p:nvSpPr>
        <p:spPr>
          <a:xfrm>
            <a:off x="6327720" y="5650920"/>
            <a:ext cx="26514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1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Только пиксели выше t₁. Находим t₂: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&lt; t₂ = кость, ≥ t₂ = хрящ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Rectangle 23"/>
          <p:cNvSpPr/>
          <p:nvPr/>
        </p:nvSpPr>
        <p:spPr>
          <a:xfrm>
            <a:off x="9189720" y="4754880"/>
            <a:ext cx="2834280" cy="191988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3" name="Rectangle 24"/>
          <p:cNvSpPr/>
          <p:nvPr/>
        </p:nvSpPr>
        <p:spPr>
          <a:xfrm>
            <a:off x="9189720" y="4754880"/>
            <a:ext cx="63720" cy="1919880"/>
          </a:xfrm>
          <a:prstGeom prst="rect">
            <a:avLst/>
          </a:prstGeom>
          <a:solidFill>
            <a:srgbClr val="00CC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4" name="TextBox 25"/>
          <p:cNvSpPr/>
          <p:nvPr/>
        </p:nvSpPr>
        <p:spPr>
          <a:xfrm>
            <a:off x="9299520" y="4827960"/>
            <a:ext cx="2834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CC99"/>
                </a:solidFill>
                <a:effectLst/>
                <a:uFillTx/>
                <a:latin typeface="Calibri"/>
              </a:rPr>
              <a:t>Шаг 4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26"/>
          <p:cNvSpPr/>
          <p:nvPr/>
        </p:nvSpPr>
        <p:spPr>
          <a:xfrm>
            <a:off x="9299520" y="5166360"/>
            <a:ext cx="2651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Морфология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Box 27"/>
          <p:cNvSpPr/>
          <p:nvPr/>
        </p:nvSpPr>
        <p:spPr>
          <a:xfrm>
            <a:off x="9299520" y="5650920"/>
            <a:ext cx="26514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1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Closing 5×5 → заполнить дыры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Opening 3×3 → убрать шум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Box 28"/>
          <p:cNvSpPr/>
          <p:nvPr/>
        </p:nvSpPr>
        <p:spPr>
          <a:xfrm>
            <a:off x="274320" y="6510600"/>
            <a:ext cx="11612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i="1" u="none" strike="noStrike">
                <a:solidFill>
                  <a:srgbClr val="FF9900"/>
                </a:solidFill>
                <a:effectLst/>
                <a:uFillTx/>
                <a:latin typeface="Calibri"/>
              </a:rPr>
              <a:t>Ключевое отличие от первого метода: t₂ делает второй разрез ВНУТРИ ткани — отделяет кость (средняя яркость) от хряща (более высокая яркость в МРТ)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Rectangle 1"/>
          <p:cNvSpPr/>
          <p:nvPr/>
        </p:nvSpPr>
        <p:spPr>
          <a:xfrm>
            <a:off x="0" y="0"/>
            <a:ext cx="12188520" cy="95976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9" name="Rectangle 2"/>
          <p:cNvSpPr/>
          <p:nvPr/>
        </p:nvSpPr>
        <p:spPr>
          <a:xfrm>
            <a:off x="0" y="0"/>
            <a:ext cx="91080" cy="959760"/>
          </a:xfrm>
          <a:prstGeom prst="rect">
            <a:avLst/>
          </a:prstGeom>
          <a:solidFill>
            <a:srgbClr val="00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0" name="TextBox 3"/>
          <p:cNvSpPr/>
          <p:nvPr/>
        </p:nvSpPr>
        <p:spPr>
          <a:xfrm>
            <a:off x="228600" y="91440"/>
            <a:ext cx="11429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Результаты после улучшения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Box 4"/>
          <p:cNvSpPr/>
          <p:nvPr/>
        </p:nvSpPr>
        <p:spPr>
          <a:xfrm>
            <a:off x="228600" y="621720"/>
            <a:ext cx="11429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0099FF"/>
                </a:solidFill>
                <a:effectLst/>
                <a:uFillTx/>
                <a:latin typeface="Calibri"/>
              </a:rPr>
              <a:t>Double-Otsu vs Simple Otsu — синтетические данные KL-0 … KL-4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Rectangle 5"/>
          <p:cNvSpPr/>
          <p:nvPr/>
        </p:nvSpPr>
        <p:spPr>
          <a:xfrm>
            <a:off x="0" y="6793920"/>
            <a:ext cx="12188520" cy="63720"/>
          </a:xfrm>
          <a:prstGeom prst="rect">
            <a:avLst/>
          </a:prstGeom>
          <a:solidFill>
            <a:srgbClr val="00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3" name="TextBox 6"/>
          <p:cNvSpPr/>
          <p:nvPr/>
        </p:nvSpPr>
        <p:spPr>
          <a:xfrm>
            <a:off x="11274480" y="6510600"/>
            <a:ext cx="77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7799BB"/>
                </a:solidFill>
                <a:effectLst/>
                <a:uFillTx/>
                <a:latin typeface="Calibri"/>
              </a:rPr>
              <a:t>10 / 15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4" name="Picture 7" descr="dice_comparison.png"/>
          <p:cNvPicPr/>
          <p:nvPr/>
        </p:nvPicPr>
        <p:blipFill>
          <a:blip r:embed="rId1"/>
          <a:stretch/>
        </p:blipFill>
        <p:spPr>
          <a:xfrm>
            <a:off x="274320" y="1097280"/>
            <a:ext cx="6857640" cy="5394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5" name="Rectangle 8"/>
          <p:cNvSpPr/>
          <p:nvPr/>
        </p:nvSpPr>
        <p:spPr>
          <a:xfrm>
            <a:off x="7315200" y="1097280"/>
            <a:ext cx="4663080" cy="50256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6" name="TextBox 9"/>
          <p:cNvSpPr/>
          <p:nvPr/>
        </p:nvSpPr>
        <p:spPr>
          <a:xfrm>
            <a:off x="7406640" y="1170360"/>
            <a:ext cx="4480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7799BB"/>
                </a:solidFill>
                <a:effectLst/>
                <a:uFillTx/>
                <a:latin typeface="Calibri"/>
              </a:rPr>
              <a:t>KL-стадия    Кость (v2)    Хрящ (v2)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Rectangle 10"/>
          <p:cNvSpPr/>
          <p:nvPr/>
        </p:nvSpPr>
        <p:spPr>
          <a:xfrm>
            <a:off x="7315200" y="1691640"/>
            <a:ext cx="4663080" cy="45684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8" name="Rectangle 11"/>
          <p:cNvSpPr/>
          <p:nvPr/>
        </p:nvSpPr>
        <p:spPr>
          <a:xfrm>
            <a:off x="7315200" y="1691640"/>
            <a:ext cx="63720" cy="456840"/>
          </a:xfrm>
          <a:prstGeom prst="rect">
            <a:avLst/>
          </a:prstGeom>
          <a:solidFill>
            <a:srgbClr val="00CC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9" name="TextBox 12"/>
          <p:cNvSpPr/>
          <p:nvPr/>
        </p:nvSpPr>
        <p:spPr>
          <a:xfrm>
            <a:off x="7452360" y="1755720"/>
            <a:ext cx="21027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KL-0 (Норма)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Box 13"/>
          <p:cNvSpPr/>
          <p:nvPr/>
        </p:nvSpPr>
        <p:spPr>
          <a:xfrm>
            <a:off x="9601200" y="173736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CC99"/>
                </a:solidFill>
                <a:effectLst/>
                <a:uFillTx/>
                <a:latin typeface="Calibri"/>
              </a:rPr>
              <a:t>0.93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Box 14"/>
          <p:cNvSpPr/>
          <p:nvPr/>
        </p:nvSpPr>
        <p:spPr>
          <a:xfrm>
            <a:off x="10607040" y="1737360"/>
            <a:ext cx="1096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99FF"/>
                </a:solidFill>
                <a:effectLst/>
                <a:uFillTx/>
                <a:latin typeface="Calibri"/>
              </a:rPr>
              <a:t>0.38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Rectangle 15"/>
          <p:cNvSpPr/>
          <p:nvPr/>
        </p:nvSpPr>
        <p:spPr>
          <a:xfrm>
            <a:off x="7315200" y="2185560"/>
            <a:ext cx="4663080" cy="45684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3" name="Rectangle 16"/>
          <p:cNvSpPr/>
          <p:nvPr/>
        </p:nvSpPr>
        <p:spPr>
          <a:xfrm>
            <a:off x="7315200" y="2185560"/>
            <a:ext cx="63720" cy="456840"/>
          </a:xfrm>
          <a:prstGeom prst="rect">
            <a:avLst/>
          </a:prstGeom>
          <a:solidFill>
            <a:srgbClr val="00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4" name="TextBox 17"/>
          <p:cNvSpPr/>
          <p:nvPr/>
        </p:nvSpPr>
        <p:spPr>
          <a:xfrm>
            <a:off x="7452360" y="2249280"/>
            <a:ext cx="21027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KL-1 (Ранняя)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Box 18"/>
          <p:cNvSpPr/>
          <p:nvPr/>
        </p:nvSpPr>
        <p:spPr>
          <a:xfrm>
            <a:off x="9601200" y="223128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CC99"/>
                </a:solidFill>
                <a:effectLst/>
                <a:uFillTx/>
                <a:latin typeface="Calibri"/>
              </a:rPr>
              <a:t>0.96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19"/>
          <p:cNvSpPr/>
          <p:nvPr/>
        </p:nvSpPr>
        <p:spPr>
          <a:xfrm>
            <a:off x="10607040" y="2231280"/>
            <a:ext cx="1096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99FF"/>
                </a:solidFill>
                <a:effectLst/>
                <a:uFillTx/>
                <a:latin typeface="Calibri"/>
              </a:rPr>
              <a:t>0.27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Rectangle 20"/>
          <p:cNvSpPr/>
          <p:nvPr/>
        </p:nvSpPr>
        <p:spPr>
          <a:xfrm>
            <a:off x="7315200" y="2679120"/>
            <a:ext cx="4663080" cy="45684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8" name="Rectangle 21"/>
          <p:cNvSpPr/>
          <p:nvPr/>
        </p:nvSpPr>
        <p:spPr>
          <a:xfrm>
            <a:off x="7315200" y="2679120"/>
            <a:ext cx="63720" cy="45684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9" name="TextBox 22"/>
          <p:cNvSpPr/>
          <p:nvPr/>
        </p:nvSpPr>
        <p:spPr>
          <a:xfrm>
            <a:off x="7452360" y="2743200"/>
            <a:ext cx="21027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KL-2 </a:t>
            </a:r>
            <a:r>
              <a:rPr lang="en-US" sz="12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(Умеренная)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Box 23"/>
          <p:cNvSpPr/>
          <p:nvPr/>
        </p:nvSpPr>
        <p:spPr>
          <a:xfrm>
            <a:off x="9601200" y="272484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CC99"/>
                </a:solidFill>
                <a:effectLst/>
                <a:uFillTx/>
                <a:latin typeface="Calibri"/>
              </a:rPr>
              <a:t>0.80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Box 24"/>
          <p:cNvSpPr/>
          <p:nvPr/>
        </p:nvSpPr>
        <p:spPr>
          <a:xfrm>
            <a:off x="10607040" y="2724840"/>
            <a:ext cx="1096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99FF"/>
                </a:solidFill>
                <a:effectLst/>
                <a:uFillTx/>
                <a:latin typeface="Calibri"/>
              </a:rPr>
              <a:t>0.29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Rectangle 25"/>
          <p:cNvSpPr/>
          <p:nvPr/>
        </p:nvSpPr>
        <p:spPr>
          <a:xfrm>
            <a:off x="7315200" y="3173040"/>
            <a:ext cx="4663080" cy="45684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3" name="Rectangle 26"/>
          <p:cNvSpPr/>
          <p:nvPr/>
        </p:nvSpPr>
        <p:spPr>
          <a:xfrm>
            <a:off x="7315200" y="3173040"/>
            <a:ext cx="63720" cy="456840"/>
          </a:xfrm>
          <a:prstGeom prst="rect">
            <a:avLst/>
          </a:prstGeom>
          <a:solidFill>
            <a:srgbClr val="FF66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4" name="TextBox 27"/>
          <p:cNvSpPr/>
          <p:nvPr/>
        </p:nvSpPr>
        <p:spPr>
          <a:xfrm>
            <a:off x="7452360" y="3237120"/>
            <a:ext cx="21027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KL-3 </a:t>
            </a:r>
            <a:r>
              <a:rPr lang="en-US" sz="12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(Выраже</a:t>
            </a:r>
            <a:r>
              <a:rPr lang="en-US" sz="12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н.)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Box 28"/>
          <p:cNvSpPr/>
          <p:nvPr/>
        </p:nvSpPr>
        <p:spPr>
          <a:xfrm>
            <a:off x="9601200" y="321876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CC99"/>
                </a:solidFill>
                <a:effectLst/>
                <a:uFillTx/>
                <a:latin typeface="Calibri"/>
              </a:rPr>
              <a:t>0.70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Box 29"/>
          <p:cNvSpPr/>
          <p:nvPr/>
        </p:nvSpPr>
        <p:spPr>
          <a:xfrm>
            <a:off x="10607040" y="3218760"/>
            <a:ext cx="1096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99FF"/>
                </a:solidFill>
                <a:effectLst/>
                <a:uFillTx/>
                <a:latin typeface="Calibri"/>
              </a:rPr>
              <a:t>0.10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Rectangle 30"/>
          <p:cNvSpPr/>
          <p:nvPr/>
        </p:nvSpPr>
        <p:spPr>
          <a:xfrm>
            <a:off x="7315200" y="3666600"/>
            <a:ext cx="4663080" cy="45684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8" name="Rectangle 31"/>
          <p:cNvSpPr/>
          <p:nvPr/>
        </p:nvSpPr>
        <p:spPr>
          <a:xfrm>
            <a:off x="7315200" y="3666600"/>
            <a:ext cx="63720" cy="456840"/>
          </a:xfrm>
          <a:prstGeom prst="rect">
            <a:avLst/>
          </a:prstGeom>
          <a:solidFill>
            <a:srgbClr val="FF44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9" name="TextBox 32"/>
          <p:cNvSpPr/>
          <p:nvPr/>
        </p:nvSpPr>
        <p:spPr>
          <a:xfrm>
            <a:off x="7452360" y="3730680"/>
            <a:ext cx="21027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KL-4 (Тяжёлая)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Box 33"/>
          <p:cNvSpPr/>
          <p:nvPr/>
        </p:nvSpPr>
        <p:spPr>
          <a:xfrm>
            <a:off x="9601200" y="371232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CC99"/>
                </a:solidFill>
                <a:effectLst/>
                <a:uFillTx/>
                <a:latin typeface="Calibri"/>
              </a:rPr>
              <a:t>0.78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Box 34"/>
          <p:cNvSpPr/>
          <p:nvPr/>
        </p:nvSpPr>
        <p:spPr>
          <a:xfrm>
            <a:off x="10607040" y="3712320"/>
            <a:ext cx="1096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99FF"/>
                </a:solidFill>
                <a:effectLst/>
                <a:uFillTx/>
                <a:latin typeface="Calibri"/>
              </a:rPr>
              <a:t>0.05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Rectangle 35"/>
          <p:cNvSpPr/>
          <p:nvPr/>
        </p:nvSpPr>
        <p:spPr>
          <a:xfrm>
            <a:off x="7315200" y="4160520"/>
            <a:ext cx="4663080" cy="45684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3" name="Rectangle 36"/>
          <p:cNvSpPr/>
          <p:nvPr/>
        </p:nvSpPr>
        <p:spPr>
          <a:xfrm>
            <a:off x="7315200" y="4160520"/>
            <a:ext cx="63720" cy="456840"/>
          </a:xfrm>
          <a:prstGeom prst="rect">
            <a:avLst/>
          </a:prstGeom>
          <a:solidFill>
            <a:srgbClr val="7799B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4" name="TextBox 37"/>
          <p:cNvSpPr/>
          <p:nvPr/>
        </p:nvSpPr>
        <p:spPr>
          <a:xfrm>
            <a:off x="7452360" y="4224600"/>
            <a:ext cx="21027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Среднее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Box 38"/>
          <p:cNvSpPr/>
          <p:nvPr/>
        </p:nvSpPr>
        <p:spPr>
          <a:xfrm>
            <a:off x="9601200" y="420624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CC99"/>
                </a:solidFill>
                <a:effectLst/>
                <a:uFillTx/>
                <a:latin typeface="Calibri"/>
              </a:rPr>
              <a:t>0.83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Box 39"/>
          <p:cNvSpPr/>
          <p:nvPr/>
        </p:nvSpPr>
        <p:spPr>
          <a:xfrm>
            <a:off x="10607040" y="4206240"/>
            <a:ext cx="1096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99FF"/>
                </a:solidFill>
                <a:effectLst/>
                <a:uFillTx/>
                <a:latin typeface="Calibri"/>
              </a:rPr>
              <a:t>0.22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Rectangle 40"/>
          <p:cNvSpPr/>
          <p:nvPr/>
        </p:nvSpPr>
        <p:spPr>
          <a:xfrm>
            <a:off x="7315200" y="4800600"/>
            <a:ext cx="4663080" cy="77688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8" name="Rectangle 41"/>
          <p:cNvSpPr/>
          <p:nvPr/>
        </p:nvSpPr>
        <p:spPr>
          <a:xfrm>
            <a:off x="7315200" y="4800600"/>
            <a:ext cx="63720" cy="776880"/>
          </a:xfrm>
          <a:prstGeom prst="rect">
            <a:avLst/>
          </a:prstGeom>
          <a:solidFill>
            <a:srgbClr val="FF44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9" name="TextBox 42"/>
          <p:cNvSpPr/>
          <p:nvPr/>
        </p:nvSpPr>
        <p:spPr>
          <a:xfrm>
            <a:off x="7498080" y="485532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4455"/>
                </a:solidFill>
                <a:effectLst/>
                <a:uFillTx/>
                <a:latin typeface="Calibri"/>
              </a:rPr>
              <a:t>Simple Otsu (v1)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Box 43"/>
          <p:cNvSpPr/>
          <p:nvPr/>
        </p:nvSpPr>
        <p:spPr>
          <a:xfrm>
            <a:off x="9875520" y="4892040"/>
            <a:ext cx="1919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Кость: 0.20–0.35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Хрящ:  ≈ 0.000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Rectangle 44"/>
          <p:cNvSpPr/>
          <p:nvPr/>
        </p:nvSpPr>
        <p:spPr>
          <a:xfrm>
            <a:off x="7315200" y="5641920"/>
            <a:ext cx="4663080" cy="77688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2" name="Rectangle 45"/>
          <p:cNvSpPr/>
          <p:nvPr/>
        </p:nvSpPr>
        <p:spPr>
          <a:xfrm>
            <a:off x="7315200" y="5641920"/>
            <a:ext cx="63720" cy="776880"/>
          </a:xfrm>
          <a:prstGeom prst="rect">
            <a:avLst/>
          </a:prstGeom>
          <a:solidFill>
            <a:srgbClr val="00CC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3" name="TextBox 46"/>
          <p:cNvSpPr/>
          <p:nvPr/>
        </p:nvSpPr>
        <p:spPr>
          <a:xfrm>
            <a:off x="7498080" y="569664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CC99"/>
                </a:solidFill>
                <a:effectLst/>
                <a:uFillTx/>
                <a:latin typeface="Calibri"/>
              </a:rPr>
              <a:t>Double-Otsu (v2)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Box 47"/>
          <p:cNvSpPr/>
          <p:nvPr/>
        </p:nvSpPr>
        <p:spPr>
          <a:xfrm>
            <a:off x="9875520" y="5733360"/>
            <a:ext cx="1919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Кость: 0.68–0.96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Хрящ:  0.05–0.38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Box 48"/>
          <p:cNvSpPr/>
          <p:nvPr/>
        </p:nvSpPr>
        <p:spPr>
          <a:xfrm>
            <a:off x="7315200" y="6510600"/>
            <a:ext cx="4663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i="1" u="none" strike="noStrike">
                <a:solidFill>
                  <a:srgbClr val="7799BB"/>
                </a:solidFill>
                <a:effectLst/>
                <a:uFillTx/>
                <a:latin typeface="Calibri"/>
              </a:rPr>
              <a:t>Хрящ теперь находится! Для KL-4 Dice хряща низкий (0.05) — хрящ почти исчез.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Rectangle 1"/>
          <p:cNvSpPr/>
          <p:nvPr/>
        </p:nvSpPr>
        <p:spPr>
          <a:xfrm>
            <a:off x="0" y="0"/>
            <a:ext cx="12188520" cy="95976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7" name="Rectangle 2"/>
          <p:cNvSpPr/>
          <p:nvPr/>
        </p:nvSpPr>
        <p:spPr>
          <a:xfrm>
            <a:off x="0" y="0"/>
            <a:ext cx="91080" cy="959760"/>
          </a:xfrm>
          <a:prstGeom prst="rect">
            <a:avLst/>
          </a:prstGeom>
          <a:solidFill>
            <a:srgbClr val="00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8" name="TextBox 3"/>
          <p:cNvSpPr/>
          <p:nvPr/>
        </p:nvSpPr>
        <p:spPr>
          <a:xfrm>
            <a:off x="228600" y="91440"/>
            <a:ext cx="11429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Поч</a:t>
            </a: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ему </a:t>
            </a: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клас</a:t>
            </a: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сиче</a:t>
            </a: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ский </a:t>
            </a: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CV, а </a:t>
            </a: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не </a:t>
            </a: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ней</a:t>
            </a: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росе</a:t>
            </a: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ть?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Box 4"/>
          <p:cNvSpPr/>
          <p:nvPr/>
        </p:nvSpPr>
        <p:spPr>
          <a:xfrm>
            <a:off x="228600" y="621720"/>
            <a:ext cx="11429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0099FF"/>
                </a:solidFill>
                <a:effectLst/>
                <a:uFillTx/>
                <a:latin typeface="Calibri"/>
              </a:rPr>
              <a:t>Обоснование выбора метода — Double-Otsu vs U-Net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Rectangle 5"/>
          <p:cNvSpPr/>
          <p:nvPr/>
        </p:nvSpPr>
        <p:spPr>
          <a:xfrm>
            <a:off x="0" y="6793920"/>
            <a:ext cx="12188520" cy="63720"/>
          </a:xfrm>
          <a:prstGeom prst="rect">
            <a:avLst/>
          </a:prstGeom>
          <a:solidFill>
            <a:srgbClr val="00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1" name="TextBox 6"/>
          <p:cNvSpPr/>
          <p:nvPr/>
        </p:nvSpPr>
        <p:spPr>
          <a:xfrm>
            <a:off x="11274480" y="6510600"/>
            <a:ext cx="77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7799BB"/>
                </a:solidFill>
                <a:effectLst/>
                <a:uFillTx/>
                <a:latin typeface="Calibri"/>
              </a:rPr>
              <a:t>11 / 15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Rectangle 7"/>
          <p:cNvSpPr/>
          <p:nvPr/>
        </p:nvSpPr>
        <p:spPr>
          <a:xfrm>
            <a:off x="274320" y="1097280"/>
            <a:ext cx="5577480" cy="539460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3" name="Rectangle 8"/>
          <p:cNvSpPr/>
          <p:nvPr/>
        </p:nvSpPr>
        <p:spPr>
          <a:xfrm>
            <a:off x="274320" y="1097280"/>
            <a:ext cx="63720" cy="5394600"/>
          </a:xfrm>
          <a:prstGeom prst="rect">
            <a:avLst/>
          </a:prstGeom>
          <a:solidFill>
            <a:srgbClr val="7799B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4" name="TextBox 9"/>
          <p:cNvSpPr/>
          <p:nvPr/>
        </p:nvSpPr>
        <p:spPr>
          <a:xfrm>
            <a:off x="502920" y="1207080"/>
            <a:ext cx="5211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7799BB"/>
                </a:solidFill>
                <a:effectLst/>
                <a:uFillTx/>
                <a:latin typeface="Calibri"/>
              </a:rPr>
              <a:t>Double-Otsu (наш выбор)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Box 10"/>
          <p:cNvSpPr/>
          <p:nvPr/>
        </p:nvSpPr>
        <p:spPr>
          <a:xfrm>
            <a:off x="502920" y="1719000"/>
            <a:ext cx="521172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3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●  НЕ требует обучения — нет нужды в 1000+ масках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3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●  НЕ требует GPU — работает на любом компьютере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3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●  Полностью интерпретируем: 2 числа (t₁, t₂) объясняют всё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3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●  Скорость: &lt; 0.1 секунды на снимок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3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●  Базируется на физике МРТ (яркость = водный сигнал)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3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●  Подходит для демо-системы и baseline оценки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Rectangle 11"/>
          <p:cNvSpPr/>
          <p:nvPr/>
        </p:nvSpPr>
        <p:spPr>
          <a:xfrm>
            <a:off x="6035040" y="1097280"/>
            <a:ext cx="5851800" cy="539460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7" name="Rectangle 12"/>
          <p:cNvSpPr/>
          <p:nvPr/>
        </p:nvSpPr>
        <p:spPr>
          <a:xfrm>
            <a:off x="6035040" y="1097280"/>
            <a:ext cx="63720" cy="5394600"/>
          </a:xfrm>
          <a:prstGeom prst="rect">
            <a:avLst/>
          </a:prstGeom>
          <a:solidFill>
            <a:srgbClr val="00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8" name="TextBox 13"/>
          <p:cNvSpPr/>
          <p:nvPr/>
        </p:nvSpPr>
        <p:spPr>
          <a:xfrm>
            <a:off x="6263640" y="1207080"/>
            <a:ext cx="5486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099FF"/>
                </a:solidFill>
                <a:effectLst/>
                <a:uFillTx/>
                <a:latin typeface="Calibri"/>
              </a:rPr>
              <a:t>U-Net (следующий шаг)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Box 14"/>
          <p:cNvSpPr/>
          <p:nvPr/>
        </p:nvSpPr>
        <p:spPr>
          <a:xfrm>
            <a:off x="6263640" y="1719000"/>
            <a:ext cx="548604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3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●  Dice 0.85–0.95 — в 3-4 раза лучше нашего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3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●  Учитывает форму, текстуру, контекст всего снимка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3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●  Encoder-Decoder архитектура со skip-соединениями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3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●  Требует GPU (NVIDIA ≥ 8GB) для обучения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3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●  Требует 1000+ аннотированных МРТ-срезов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3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●  2–7 дней обучения на реальных данных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3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●  Augmentation: flip, rotation, Gaussian noise, elastic deform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Rectangle 15"/>
          <p:cNvSpPr/>
          <p:nvPr/>
        </p:nvSpPr>
        <p:spPr>
          <a:xfrm>
            <a:off x="274320" y="6510600"/>
            <a:ext cx="11612520" cy="27396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1" name="Rectangle 16"/>
          <p:cNvSpPr/>
          <p:nvPr/>
        </p:nvSpPr>
        <p:spPr>
          <a:xfrm>
            <a:off x="274320" y="6510600"/>
            <a:ext cx="63720" cy="27396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2" name="TextBox 17"/>
          <p:cNvSpPr/>
          <p:nvPr/>
        </p:nvSpPr>
        <p:spPr>
          <a:xfrm>
            <a:off x="457200" y="6546960"/>
            <a:ext cx="11246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E1A2B"/>
                </a:solidFill>
                <a:effectLst/>
                <a:uFillTx/>
                <a:latin typeface="Calibri"/>
              </a:rPr>
              <a:t>Вывод: Double-Otsu — честный, прозрачный baseline. U-Net — цель для следующего этапа.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Rectangle 1"/>
          <p:cNvSpPr/>
          <p:nvPr/>
        </p:nvSpPr>
        <p:spPr>
          <a:xfrm>
            <a:off x="0" y="0"/>
            <a:ext cx="12188520" cy="95976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4" name="Rectangle 2"/>
          <p:cNvSpPr/>
          <p:nvPr/>
        </p:nvSpPr>
        <p:spPr>
          <a:xfrm>
            <a:off x="0" y="0"/>
            <a:ext cx="91080" cy="959760"/>
          </a:xfrm>
          <a:prstGeom prst="rect">
            <a:avLst/>
          </a:prstGeom>
          <a:solidFill>
            <a:srgbClr val="00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5" name="TextBox 3"/>
          <p:cNvSpPr/>
          <p:nvPr/>
        </p:nvSpPr>
        <p:spPr>
          <a:xfrm>
            <a:off x="228600" y="91440"/>
            <a:ext cx="11429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Итоговое </a:t>
            </a: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сравнение </a:t>
            </a: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трёх </a:t>
            </a: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методов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Rectangle 4"/>
          <p:cNvSpPr/>
          <p:nvPr/>
        </p:nvSpPr>
        <p:spPr>
          <a:xfrm>
            <a:off x="0" y="6793920"/>
            <a:ext cx="12188520" cy="63720"/>
          </a:xfrm>
          <a:prstGeom prst="rect">
            <a:avLst/>
          </a:prstGeom>
          <a:solidFill>
            <a:srgbClr val="00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7" name="TextBox 5"/>
          <p:cNvSpPr/>
          <p:nvPr/>
        </p:nvSpPr>
        <p:spPr>
          <a:xfrm>
            <a:off x="11274480" y="6510600"/>
            <a:ext cx="77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7799BB"/>
                </a:solidFill>
                <a:effectLst/>
                <a:uFillTx/>
                <a:latin typeface="Calibri"/>
              </a:rPr>
              <a:t>12 / 15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8" name="Picture 6" descr="method_comparison.png"/>
          <p:cNvPicPr/>
          <p:nvPr/>
        </p:nvPicPr>
        <p:blipFill>
          <a:blip r:embed="rId1"/>
          <a:stretch/>
        </p:blipFill>
        <p:spPr>
          <a:xfrm>
            <a:off x="274320" y="1097280"/>
            <a:ext cx="6857640" cy="4114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9" name="Rectangle 7"/>
          <p:cNvSpPr/>
          <p:nvPr/>
        </p:nvSpPr>
        <p:spPr>
          <a:xfrm>
            <a:off x="7315200" y="1097280"/>
            <a:ext cx="2102760" cy="34704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0" name="TextBox 8"/>
          <p:cNvSpPr/>
          <p:nvPr/>
        </p:nvSpPr>
        <p:spPr>
          <a:xfrm>
            <a:off x="7360920" y="113400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7799BB"/>
                </a:solidFill>
                <a:effectLst/>
                <a:uFillTx/>
                <a:latin typeface="Calibri"/>
              </a:rPr>
              <a:t>Метод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Rectangle 9"/>
          <p:cNvSpPr/>
          <p:nvPr/>
        </p:nvSpPr>
        <p:spPr>
          <a:xfrm>
            <a:off x="9418320" y="1097280"/>
            <a:ext cx="1051200" cy="34704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2" name="TextBox 10"/>
          <p:cNvSpPr/>
          <p:nvPr/>
        </p:nvSpPr>
        <p:spPr>
          <a:xfrm>
            <a:off x="9464040" y="1134000"/>
            <a:ext cx="1051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7799BB"/>
                </a:solidFill>
                <a:effectLst/>
                <a:uFillTx/>
                <a:latin typeface="Calibri"/>
              </a:rPr>
              <a:t>Dice кость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Rectangle 11"/>
          <p:cNvSpPr/>
          <p:nvPr/>
        </p:nvSpPr>
        <p:spPr>
          <a:xfrm>
            <a:off x="10469880" y="1097280"/>
            <a:ext cx="1051200" cy="34704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4" name="TextBox 12"/>
          <p:cNvSpPr/>
          <p:nvPr/>
        </p:nvSpPr>
        <p:spPr>
          <a:xfrm>
            <a:off x="10515600" y="1134000"/>
            <a:ext cx="1051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7799BB"/>
                </a:solidFill>
                <a:effectLst/>
                <a:uFillTx/>
                <a:latin typeface="Calibri"/>
              </a:rPr>
              <a:t>Dice хрящ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Rectangle 13"/>
          <p:cNvSpPr/>
          <p:nvPr/>
        </p:nvSpPr>
        <p:spPr>
          <a:xfrm>
            <a:off x="11521440" y="1097280"/>
            <a:ext cx="594000" cy="34704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6" name="TextBox 14"/>
          <p:cNvSpPr/>
          <p:nvPr/>
        </p:nvSpPr>
        <p:spPr>
          <a:xfrm>
            <a:off x="11567160" y="1134000"/>
            <a:ext cx="594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7799BB"/>
                </a:solidFill>
                <a:effectLst/>
                <a:uFillTx/>
                <a:latin typeface="Calibri"/>
              </a:rPr>
              <a:t>GPU?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Rectangle 15"/>
          <p:cNvSpPr/>
          <p:nvPr/>
        </p:nvSpPr>
        <p:spPr>
          <a:xfrm>
            <a:off x="12115800" y="1097280"/>
            <a:ext cx="1005480" cy="34704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8" name="TextBox 16"/>
          <p:cNvSpPr/>
          <p:nvPr/>
        </p:nvSpPr>
        <p:spPr>
          <a:xfrm>
            <a:off x="12161520" y="1134000"/>
            <a:ext cx="1005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7799BB"/>
                </a:solidFill>
                <a:effectLst/>
                <a:uFillTx/>
                <a:latin typeface="Calibri"/>
              </a:rPr>
              <a:t>Обучение?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Rectangle 17"/>
          <p:cNvSpPr/>
          <p:nvPr/>
        </p:nvSpPr>
        <p:spPr>
          <a:xfrm>
            <a:off x="13121640" y="1097280"/>
            <a:ext cx="868320" cy="34704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0" name="TextBox 18"/>
          <p:cNvSpPr/>
          <p:nvPr/>
        </p:nvSpPr>
        <p:spPr>
          <a:xfrm>
            <a:off x="13167360" y="1134000"/>
            <a:ext cx="868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7799BB"/>
                </a:solidFill>
                <a:effectLst/>
                <a:uFillTx/>
                <a:latin typeface="Calibri"/>
              </a:rPr>
              <a:t>Скорость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Rectangle 19"/>
          <p:cNvSpPr/>
          <p:nvPr/>
        </p:nvSpPr>
        <p:spPr>
          <a:xfrm>
            <a:off x="7315200" y="1463040"/>
            <a:ext cx="2102760" cy="502560"/>
          </a:xfrm>
          <a:prstGeom prst="rect">
            <a:avLst/>
          </a:prstGeom>
          <a:solidFill>
            <a:srgbClr val="1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2" name="Rectangle 20"/>
          <p:cNvSpPr/>
          <p:nvPr/>
        </p:nvSpPr>
        <p:spPr>
          <a:xfrm>
            <a:off x="7315200" y="1463040"/>
            <a:ext cx="54360" cy="502560"/>
          </a:xfrm>
          <a:prstGeom prst="rect">
            <a:avLst/>
          </a:prstGeom>
          <a:solidFill>
            <a:srgbClr val="FF44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3" name="TextBox 21"/>
          <p:cNvSpPr/>
          <p:nvPr/>
        </p:nvSpPr>
        <p:spPr>
          <a:xfrm>
            <a:off x="7406640" y="155448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4455"/>
                </a:solidFill>
                <a:effectLst/>
                <a:uFillTx/>
                <a:latin typeface="Calibri"/>
              </a:rPr>
              <a:t>Simple Otsu (v1)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Rectangle 22"/>
          <p:cNvSpPr/>
          <p:nvPr/>
        </p:nvSpPr>
        <p:spPr>
          <a:xfrm>
            <a:off x="9418320" y="1463040"/>
            <a:ext cx="1051200" cy="502560"/>
          </a:xfrm>
          <a:prstGeom prst="rect">
            <a:avLst/>
          </a:prstGeom>
          <a:solidFill>
            <a:srgbClr val="1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5" name="Rectangle 23"/>
          <p:cNvSpPr/>
          <p:nvPr/>
        </p:nvSpPr>
        <p:spPr>
          <a:xfrm>
            <a:off x="9418320" y="1463040"/>
            <a:ext cx="54360" cy="502560"/>
          </a:xfrm>
          <a:prstGeom prst="rect">
            <a:avLst/>
          </a:prstGeom>
          <a:solidFill>
            <a:srgbClr val="FF44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6" name="TextBox 24"/>
          <p:cNvSpPr/>
          <p:nvPr/>
        </p:nvSpPr>
        <p:spPr>
          <a:xfrm>
            <a:off x="9509760" y="1554480"/>
            <a:ext cx="959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0.20–0.35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Rectangle 25"/>
          <p:cNvSpPr/>
          <p:nvPr/>
        </p:nvSpPr>
        <p:spPr>
          <a:xfrm>
            <a:off x="10469880" y="1463040"/>
            <a:ext cx="1051200" cy="502560"/>
          </a:xfrm>
          <a:prstGeom prst="rect">
            <a:avLst/>
          </a:prstGeom>
          <a:solidFill>
            <a:srgbClr val="1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8" name="Rectangle 26"/>
          <p:cNvSpPr/>
          <p:nvPr/>
        </p:nvSpPr>
        <p:spPr>
          <a:xfrm>
            <a:off x="10469880" y="1463040"/>
            <a:ext cx="54360" cy="502560"/>
          </a:xfrm>
          <a:prstGeom prst="rect">
            <a:avLst/>
          </a:prstGeom>
          <a:solidFill>
            <a:srgbClr val="FF44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9" name="TextBox 27"/>
          <p:cNvSpPr/>
          <p:nvPr/>
        </p:nvSpPr>
        <p:spPr>
          <a:xfrm>
            <a:off x="10561320" y="1554480"/>
            <a:ext cx="959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≈ 0.00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Rectangle 28"/>
          <p:cNvSpPr/>
          <p:nvPr/>
        </p:nvSpPr>
        <p:spPr>
          <a:xfrm>
            <a:off x="11521440" y="1463040"/>
            <a:ext cx="594000" cy="502560"/>
          </a:xfrm>
          <a:prstGeom prst="rect">
            <a:avLst/>
          </a:prstGeom>
          <a:solidFill>
            <a:srgbClr val="1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1" name="Rectangle 29"/>
          <p:cNvSpPr/>
          <p:nvPr/>
        </p:nvSpPr>
        <p:spPr>
          <a:xfrm>
            <a:off x="11521440" y="1463040"/>
            <a:ext cx="54360" cy="502560"/>
          </a:xfrm>
          <a:prstGeom prst="rect">
            <a:avLst/>
          </a:prstGeom>
          <a:solidFill>
            <a:srgbClr val="FF44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2" name="TextBox 30"/>
          <p:cNvSpPr/>
          <p:nvPr/>
        </p:nvSpPr>
        <p:spPr>
          <a:xfrm>
            <a:off x="11612880" y="1554480"/>
            <a:ext cx="502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Нет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Rectangle 31"/>
          <p:cNvSpPr/>
          <p:nvPr/>
        </p:nvSpPr>
        <p:spPr>
          <a:xfrm>
            <a:off x="12115800" y="1463040"/>
            <a:ext cx="1005480" cy="502560"/>
          </a:xfrm>
          <a:prstGeom prst="rect">
            <a:avLst/>
          </a:prstGeom>
          <a:solidFill>
            <a:srgbClr val="1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4" name="Rectangle 32"/>
          <p:cNvSpPr/>
          <p:nvPr/>
        </p:nvSpPr>
        <p:spPr>
          <a:xfrm>
            <a:off x="12115800" y="1463040"/>
            <a:ext cx="54360" cy="502560"/>
          </a:xfrm>
          <a:prstGeom prst="rect">
            <a:avLst/>
          </a:prstGeom>
          <a:solidFill>
            <a:srgbClr val="FF44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5" name="TextBox 33"/>
          <p:cNvSpPr/>
          <p:nvPr/>
        </p:nvSpPr>
        <p:spPr>
          <a:xfrm>
            <a:off x="12207240" y="155448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Нет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Rectangle 34"/>
          <p:cNvSpPr/>
          <p:nvPr/>
        </p:nvSpPr>
        <p:spPr>
          <a:xfrm>
            <a:off x="13121640" y="1463040"/>
            <a:ext cx="868320" cy="502560"/>
          </a:xfrm>
          <a:prstGeom prst="rect">
            <a:avLst/>
          </a:prstGeom>
          <a:solidFill>
            <a:srgbClr val="1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7" name="Rectangle 35"/>
          <p:cNvSpPr/>
          <p:nvPr/>
        </p:nvSpPr>
        <p:spPr>
          <a:xfrm>
            <a:off x="13121640" y="1463040"/>
            <a:ext cx="54360" cy="502560"/>
          </a:xfrm>
          <a:prstGeom prst="rect">
            <a:avLst/>
          </a:prstGeom>
          <a:solidFill>
            <a:srgbClr val="FF44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8" name="TextBox 36"/>
          <p:cNvSpPr/>
          <p:nvPr/>
        </p:nvSpPr>
        <p:spPr>
          <a:xfrm>
            <a:off x="13213080" y="1554480"/>
            <a:ext cx="776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 0.1 с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Rectangle 37"/>
          <p:cNvSpPr/>
          <p:nvPr/>
        </p:nvSpPr>
        <p:spPr>
          <a:xfrm>
            <a:off x="7315200" y="1993320"/>
            <a:ext cx="2102760" cy="502560"/>
          </a:xfrm>
          <a:prstGeom prst="rect">
            <a:avLst/>
          </a:prstGeom>
          <a:solidFill>
            <a:srgbClr val="1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0" name="Rectangle 38"/>
          <p:cNvSpPr/>
          <p:nvPr/>
        </p:nvSpPr>
        <p:spPr>
          <a:xfrm>
            <a:off x="7315200" y="1993320"/>
            <a:ext cx="54360" cy="50256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1" name="TextBox 39"/>
          <p:cNvSpPr/>
          <p:nvPr/>
        </p:nvSpPr>
        <p:spPr>
          <a:xfrm>
            <a:off x="7406640" y="208476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9900"/>
                </a:solidFill>
                <a:effectLst/>
                <a:uFillTx/>
                <a:latin typeface="Calibri"/>
              </a:rPr>
              <a:t>Double-Otsu (v2)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Rectangle 40"/>
          <p:cNvSpPr/>
          <p:nvPr/>
        </p:nvSpPr>
        <p:spPr>
          <a:xfrm>
            <a:off x="9418320" y="1993320"/>
            <a:ext cx="1051200" cy="502560"/>
          </a:xfrm>
          <a:prstGeom prst="rect">
            <a:avLst/>
          </a:prstGeom>
          <a:solidFill>
            <a:srgbClr val="1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3" name="Rectangle 41"/>
          <p:cNvSpPr/>
          <p:nvPr/>
        </p:nvSpPr>
        <p:spPr>
          <a:xfrm>
            <a:off x="9418320" y="1993320"/>
            <a:ext cx="54360" cy="50256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4" name="TextBox 42"/>
          <p:cNvSpPr/>
          <p:nvPr/>
        </p:nvSpPr>
        <p:spPr>
          <a:xfrm>
            <a:off x="9509760" y="2084760"/>
            <a:ext cx="959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0.68–0.96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Rectangle 43"/>
          <p:cNvSpPr/>
          <p:nvPr/>
        </p:nvSpPr>
        <p:spPr>
          <a:xfrm>
            <a:off x="10469880" y="1993320"/>
            <a:ext cx="1051200" cy="502560"/>
          </a:xfrm>
          <a:prstGeom prst="rect">
            <a:avLst/>
          </a:prstGeom>
          <a:solidFill>
            <a:srgbClr val="1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6" name="Rectangle 44"/>
          <p:cNvSpPr/>
          <p:nvPr/>
        </p:nvSpPr>
        <p:spPr>
          <a:xfrm>
            <a:off x="10469880" y="1993320"/>
            <a:ext cx="54360" cy="50256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7" name="TextBox 45"/>
          <p:cNvSpPr/>
          <p:nvPr/>
        </p:nvSpPr>
        <p:spPr>
          <a:xfrm>
            <a:off x="10561320" y="2084760"/>
            <a:ext cx="959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0.05–0.38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Rectangle 46"/>
          <p:cNvSpPr/>
          <p:nvPr/>
        </p:nvSpPr>
        <p:spPr>
          <a:xfrm>
            <a:off x="11521440" y="1993320"/>
            <a:ext cx="594000" cy="502560"/>
          </a:xfrm>
          <a:prstGeom prst="rect">
            <a:avLst/>
          </a:prstGeom>
          <a:solidFill>
            <a:srgbClr val="1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9" name="Rectangle 47"/>
          <p:cNvSpPr/>
          <p:nvPr/>
        </p:nvSpPr>
        <p:spPr>
          <a:xfrm>
            <a:off x="11521440" y="1993320"/>
            <a:ext cx="54360" cy="50256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0" name="TextBox 48"/>
          <p:cNvSpPr/>
          <p:nvPr/>
        </p:nvSpPr>
        <p:spPr>
          <a:xfrm>
            <a:off x="11612880" y="2084760"/>
            <a:ext cx="502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Нет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Rectangle 49"/>
          <p:cNvSpPr/>
          <p:nvPr/>
        </p:nvSpPr>
        <p:spPr>
          <a:xfrm>
            <a:off x="12115800" y="1993320"/>
            <a:ext cx="1005480" cy="502560"/>
          </a:xfrm>
          <a:prstGeom prst="rect">
            <a:avLst/>
          </a:prstGeom>
          <a:solidFill>
            <a:srgbClr val="1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2" name="Rectangle 50"/>
          <p:cNvSpPr/>
          <p:nvPr/>
        </p:nvSpPr>
        <p:spPr>
          <a:xfrm>
            <a:off x="12115800" y="1993320"/>
            <a:ext cx="54360" cy="50256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3" name="TextBox 51"/>
          <p:cNvSpPr/>
          <p:nvPr/>
        </p:nvSpPr>
        <p:spPr>
          <a:xfrm>
            <a:off x="12207240" y="20847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Нет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Rectangle 52"/>
          <p:cNvSpPr/>
          <p:nvPr/>
        </p:nvSpPr>
        <p:spPr>
          <a:xfrm>
            <a:off x="13121640" y="1993320"/>
            <a:ext cx="868320" cy="502560"/>
          </a:xfrm>
          <a:prstGeom prst="rect">
            <a:avLst/>
          </a:prstGeom>
          <a:solidFill>
            <a:srgbClr val="1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5" name="Rectangle 53"/>
          <p:cNvSpPr/>
          <p:nvPr/>
        </p:nvSpPr>
        <p:spPr>
          <a:xfrm>
            <a:off x="13121640" y="1993320"/>
            <a:ext cx="54360" cy="50256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6" name="TextBox 54"/>
          <p:cNvSpPr/>
          <p:nvPr/>
        </p:nvSpPr>
        <p:spPr>
          <a:xfrm>
            <a:off x="13213080" y="2084760"/>
            <a:ext cx="776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 0.1 с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Rectangle 55"/>
          <p:cNvSpPr/>
          <p:nvPr/>
        </p:nvSpPr>
        <p:spPr>
          <a:xfrm>
            <a:off x="7315200" y="2523600"/>
            <a:ext cx="2102760" cy="502560"/>
          </a:xfrm>
          <a:prstGeom prst="rect">
            <a:avLst/>
          </a:prstGeom>
          <a:solidFill>
            <a:srgbClr val="1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8" name="Rectangle 56"/>
          <p:cNvSpPr/>
          <p:nvPr/>
        </p:nvSpPr>
        <p:spPr>
          <a:xfrm>
            <a:off x="7315200" y="2523600"/>
            <a:ext cx="54360" cy="502560"/>
          </a:xfrm>
          <a:prstGeom prst="rect">
            <a:avLst/>
          </a:prstGeom>
          <a:solidFill>
            <a:srgbClr val="00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9" name="TextBox 57"/>
          <p:cNvSpPr/>
          <p:nvPr/>
        </p:nvSpPr>
        <p:spPr>
          <a:xfrm>
            <a:off x="7406640" y="261504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99FF"/>
                </a:solidFill>
                <a:effectLst/>
                <a:uFillTx/>
                <a:latin typeface="Calibri"/>
              </a:rPr>
              <a:t>U-Net </a:t>
            </a:r>
            <a:r>
              <a:rPr lang="en-US" sz="1100" b="1" u="none" strike="noStrike">
                <a:solidFill>
                  <a:srgbClr val="0099FF"/>
                </a:solidFill>
                <a:effectLst/>
                <a:uFillTx/>
                <a:latin typeface="Calibri"/>
              </a:rPr>
              <a:t>(лит-ра)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Rectangle 58"/>
          <p:cNvSpPr/>
          <p:nvPr/>
        </p:nvSpPr>
        <p:spPr>
          <a:xfrm>
            <a:off x="9418320" y="2523600"/>
            <a:ext cx="1051200" cy="502560"/>
          </a:xfrm>
          <a:prstGeom prst="rect">
            <a:avLst/>
          </a:prstGeom>
          <a:solidFill>
            <a:srgbClr val="1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1" name="Rectangle 59"/>
          <p:cNvSpPr/>
          <p:nvPr/>
        </p:nvSpPr>
        <p:spPr>
          <a:xfrm>
            <a:off x="9418320" y="2523600"/>
            <a:ext cx="54360" cy="502560"/>
          </a:xfrm>
          <a:prstGeom prst="rect">
            <a:avLst/>
          </a:prstGeom>
          <a:solidFill>
            <a:srgbClr val="00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2" name="TextBox 60"/>
          <p:cNvSpPr/>
          <p:nvPr/>
        </p:nvSpPr>
        <p:spPr>
          <a:xfrm>
            <a:off x="9509760" y="2615040"/>
            <a:ext cx="959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0.85–0.90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Rectangle 61"/>
          <p:cNvSpPr/>
          <p:nvPr/>
        </p:nvSpPr>
        <p:spPr>
          <a:xfrm>
            <a:off x="10469880" y="2523600"/>
            <a:ext cx="1051200" cy="502560"/>
          </a:xfrm>
          <a:prstGeom prst="rect">
            <a:avLst/>
          </a:prstGeom>
          <a:solidFill>
            <a:srgbClr val="1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4" name="Rectangle 62"/>
          <p:cNvSpPr/>
          <p:nvPr/>
        </p:nvSpPr>
        <p:spPr>
          <a:xfrm>
            <a:off x="10469880" y="2523600"/>
            <a:ext cx="54360" cy="502560"/>
          </a:xfrm>
          <a:prstGeom prst="rect">
            <a:avLst/>
          </a:prstGeom>
          <a:solidFill>
            <a:srgbClr val="00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5" name="TextBox 63"/>
          <p:cNvSpPr/>
          <p:nvPr/>
        </p:nvSpPr>
        <p:spPr>
          <a:xfrm>
            <a:off x="10561320" y="2615040"/>
            <a:ext cx="959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0.80–0.87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Rectangle 64"/>
          <p:cNvSpPr/>
          <p:nvPr/>
        </p:nvSpPr>
        <p:spPr>
          <a:xfrm>
            <a:off x="11521440" y="2523600"/>
            <a:ext cx="594000" cy="502560"/>
          </a:xfrm>
          <a:prstGeom prst="rect">
            <a:avLst/>
          </a:prstGeom>
          <a:solidFill>
            <a:srgbClr val="1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7" name="Rectangle 65"/>
          <p:cNvSpPr/>
          <p:nvPr/>
        </p:nvSpPr>
        <p:spPr>
          <a:xfrm>
            <a:off x="11521440" y="2523600"/>
            <a:ext cx="54360" cy="502560"/>
          </a:xfrm>
          <a:prstGeom prst="rect">
            <a:avLst/>
          </a:prstGeom>
          <a:solidFill>
            <a:srgbClr val="00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8" name="TextBox 66"/>
          <p:cNvSpPr/>
          <p:nvPr/>
        </p:nvSpPr>
        <p:spPr>
          <a:xfrm>
            <a:off x="11612880" y="2615040"/>
            <a:ext cx="502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Да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Rectangle 67"/>
          <p:cNvSpPr/>
          <p:nvPr/>
        </p:nvSpPr>
        <p:spPr>
          <a:xfrm>
            <a:off x="12115800" y="2523600"/>
            <a:ext cx="1005480" cy="502560"/>
          </a:xfrm>
          <a:prstGeom prst="rect">
            <a:avLst/>
          </a:prstGeom>
          <a:solidFill>
            <a:srgbClr val="1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0" name="Rectangle 68"/>
          <p:cNvSpPr/>
          <p:nvPr/>
        </p:nvSpPr>
        <p:spPr>
          <a:xfrm>
            <a:off x="12115800" y="2523600"/>
            <a:ext cx="54360" cy="502560"/>
          </a:xfrm>
          <a:prstGeom prst="rect">
            <a:avLst/>
          </a:prstGeom>
          <a:solidFill>
            <a:srgbClr val="00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1" name="TextBox 69"/>
          <p:cNvSpPr/>
          <p:nvPr/>
        </p:nvSpPr>
        <p:spPr>
          <a:xfrm>
            <a:off x="12207240" y="261504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~7 дней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Rectangle 70"/>
          <p:cNvSpPr/>
          <p:nvPr/>
        </p:nvSpPr>
        <p:spPr>
          <a:xfrm>
            <a:off x="13121640" y="2523600"/>
            <a:ext cx="868320" cy="502560"/>
          </a:xfrm>
          <a:prstGeom prst="rect">
            <a:avLst/>
          </a:prstGeom>
          <a:solidFill>
            <a:srgbClr val="1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3" name="Rectangle 71"/>
          <p:cNvSpPr/>
          <p:nvPr/>
        </p:nvSpPr>
        <p:spPr>
          <a:xfrm>
            <a:off x="13121640" y="2523600"/>
            <a:ext cx="54360" cy="502560"/>
          </a:xfrm>
          <a:prstGeom prst="rect">
            <a:avLst/>
          </a:prstGeom>
          <a:solidFill>
            <a:srgbClr val="00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4" name="TextBox 72"/>
          <p:cNvSpPr/>
          <p:nvPr/>
        </p:nvSpPr>
        <p:spPr>
          <a:xfrm>
            <a:off x="13213080" y="2615040"/>
            <a:ext cx="776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0.3 с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Rectangle 73"/>
          <p:cNvSpPr/>
          <p:nvPr/>
        </p:nvSpPr>
        <p:spPr>
          <a:xfrm>
            <a:off x="7315200" y="3054240"/>
            <a:ext cx="2102760" cy="502560"/>
          </a:xfrm>
          <a:prstGeom prst="rect">
            <a:avLst/>
          </a:prstGeom>
          <a:solidFill>
            <a:srgbClr val="1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6" name="Rectangle 74"/>
          <p:cNvSpPr/>
          <p:nvPr/>
        </p:nvSpPr>
        <p:spPr>
          <a:xfrm>
            <a:off x="7315200" y="3054240"/>
            <a:ext cx="54360" cy="502560"/>
          </a:xfrm>
          <a:prstGeom prst="rect">
            <a:avLst/>
          </a:prstGeom>
          <a:solidFill>
            <a:srgbClr val="00CC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7" name="TextBox 75"/>
          <p:cNvSpPr/>
          <p:nvPr/>
        </p:nvSpPr>
        <p:spPr>
          <a:xfrm>
            <a:off x="7406640" y="314568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CC99"/>
                </a:solidFill>
                <a:effectLst/>
                <a:uFillTx/>
                <a:latin typeface="Calibri"/>
              </a:rPr>
              <a:t>nnU-Net (лит-ра)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Rectangle 76"/>
          <p:cNvSpPr/>
          <p:nvPr/>
        </p:nvSpPr>
        <p:spPr>
          <a:xfrm>
            <a:off x="9418320" y="3054240"/>
            <a:ext cx="1051200" cy="502560"/>
          </a:xfrm>
          <a:prstGeom prst="rect">
            <a:avLst/>
          </a:prstGeom>
          <a:solidFill>
            <a:srgbClr val="1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9" name="Rectangle 77"/>
          <p:cNvSpPr/>
          <p:nvPr/>
        </p:nvSpPr>
        <p:spPr>
          <a:xfrm>
            <a:off x="9418320" y="3054240"/>
            <a:ext cx="54360" cy="502560"/>
          </a:xfrm>
          <a:prstGeom prst="rect">
            <a:avLst/>
          </a:prstGeom>
          <a:solidFill>
            <a:srgbClr val="00CC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0" name="TextBox 78"/>
          <p:cNvSpPr/>
          <p:nvPr/>
        </p:nvSpPr>
        <p:spPr>
          <a:xfrm>
            <a:off x="9509760" y="3145680"/>
            <a:ext cx="959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0.90–0.95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Rectangle 79"/>
          <p:cNvSpPr/>
          <p:nvPr/>
        </p:nvSpPr>
        <p:spPr>
          <a:xfrm>
            <a:off x="10469880" y="3054240"/>
            <a:ext cx="1051200" cy="502560"/>
          </a:xfrm>
          <a:prstGeom prst="rect">
            <a:avLst/>
          </a:prstGeom>
          <a:solidFill>
            <a:srgbClr val="1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2" name="Rectangle 80"/>
          <p:cNvSpPr/>
          <p:nvPr/>
        </p:nvSpPr>
        <p:spPr>
          <a:xfrm>
            <a:off x="10469880" y="3054240"/>
            <a:ext cx="54360" cy="502560"/>
          </a:xfrm>
          <a:prstGeom prst="rect">
            <a:avLst/>
          </a:prstGeom>
          <a:solidFill>
            <a:srgbClr val="00CC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3" name="TextBox 81"/>
          <p:cNvSpPr/>
          <p:nvPr/>
        </p:nvSpPr>
        <p:spPr>
          <a:xfrm>
            <a:off x="10561320" y="3145680"/>
            <a:ext cx="959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0.88–0.93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Rectangle 82"/>
          <p:cNvSpPr/>
          <p:nvPr/>
        </p:nvSpPr>
        <p:spPr>
          <a:xfrm>
            <a:off x="11521440" y="3054240"/>
            <a:ext cx="594000" cy="502560"/>
          </a:xfrm>
          <a:prstGeom prst="rect">
            <a:avLst/>
          </a:prstGeom>
          <a:solidFill>
            <a:srgbClr val="1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5" name="Rectangle 83"/>
          <p:cNvSpPr/>
          <p:nvPr/>
        </p:nvSpPr>
        <p:spPr>
          <a:xfrm>
            <a:off x="11521440" y="3054240"/>
            <a:ext cx="54360" cy="502560"/>
          </a:xfrm>
          <a:prstGeom prst="rect">
            <a:avLst/>
          </a:prstGeom>
          <a:solidFill>
            <a:srgbClr val="00CC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6" name="TextBox 84"/>
          <p:cNvSpPr/>
          <p:nvPr/>
        </p:nvSpPr>
        <p:spPr>
          <a:xfrm>
            <a:off x="11612880" y="3145680"/>
            <a:ext cx="502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Да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Rectangle 85"/>
          <p:cNvSpPr/>
          <p:nvPr/>
        </p:nvSpPr>
        <p:spPr>
          <a:xfrm>
            <a:off x="12115800" y="3054240"/>
            <a:ext cx="1005480" cy="502560"/>
          </a:xfrm>
          <a:prstGeom prst="rect">
            <a:avLst/>
          </a:prstGeom>
          <a:solidFill>
            <a:srgbClr val="1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8" name="Rectangle 86"/>
          <p:cNvSpPr/>
          <p:nvPr/>
        </p:nvSpPr>
        <p:spPr>
          <a:xfrm>
            <a:off x="12115800" y="3054240"/>
            <a:ext cx="54360" cy="502560"/>
          </a:xfrm>
          <a:prstGeom prst="rect">
            <a:avLst/>
          </a:prstGeom>
          <a:solidFill>
            <a:srgbClr val="00CC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9" name="TextBox 87"/>
          <p:cNvSpPr/>
          <p:nvPr/>
        </p:nvSpPr>
        <p:spPr>
          <a:xfrm>
            <a:off x="12207240" y="314568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~7 дней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Rectangle 88"/>
          <p:cNvSpPr/>
          <p:nvPr/>
        </p:nvSpPr>
        <p:spPr>
          <a:xfrm>
            <a:off x="13121640" y="3054240"/>
            <a:ext cx="868320" cy="502560"/>
          </a:xfrm>
          <a:prstGeom prst="rect">
            <a:avLst/>
          </a:prstGeom>
          <a:solidFill>
            <a:srgbClr val="1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1" name="Rectangle 89"/>
          <p:cNvSpPr/>
          <p:nvPr/>
        </p:nvSpPr>
        <p:spPr>
          <a:xfrm>
            <a:off x="13121640" y="3054240"/>
            <a:ext cx="54360" cy="502560"/>
          </a:xfrm>
          <a:prstGeom prst="rect">
            <a:avLst/>
          </a:prstGeom>
          <a:solidFill>
            <a:srgbClr val="00CC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2" name="TextBox 90"/>
          <p:cNvSpPr/>
          <p:nvPr/>
        </p:nvSpPr>
        <p:spPr>
          <a:xfrm>
            <a:off x="13213080" y="3145680"/>
            <a:ext cx="776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0.5 с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Rectangle 91"/>
          <p:cNvSpPr/>
          <p:nvPr/>
        </p:nvSpPr>
        <p:spPr>
          <a:xfrm>
            <a:off x="274320" y="5349240"/>
            <a:ext cx="6857640" cy="117000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4" name="TextBox 92"/>
          <p:cNvSpPr/>
          <p:nvPr/>
        </p:nvSpPr>
        <p:spPr>
          <a:xfrm>
            <a:off x="457200" y="5440680"/>
            <a:ext cx="6400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Что видно на изображении: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Box 93"/>
          <p:cNvSpPr/>
          <p:nvPr/>
        </p:nvSpPr>
        <p:spPr>
          <a:xfrm>
            <a:off x="457200" y="5852160"/>
            <a:ext cx="64004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2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●  Слева: исходный МРТ-снимок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2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●  Центр: наш Double-Otsu (синий=кость, зелёный=хрящ)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2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●  Справа: симулированный U-Net (для сравнения)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Box 94"/>
          <p:cNvSpPr/>
          <p:nvPr/>
        </p:nvSpPr>
        <p:spPr>
          <a:xfrm>
            <a:off x="7315200" y="6510600"/>
            <a:ext cx="4663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i="1" u="none" strike="noStrike">
                <a:solidFill>
                  <a:srgbClr val="7799BB"/>
                </a:solidFill>
                <a:effectLst/>
                <a:uFillTx/>
                <a:latin typeface="Calibri"/>
              </a:rPr>
              <a:t>Источники: Ronneberger et al. 2015 (U-Net); Isensee et al. 2021 (nnU-Net)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Rectangle 1"/>
          <p:cNvSpPr/>
          <p:nvPr/>
        </p:nvSpPr>
        <p:spPr>
          <a:xfrm>
            <a:off x="0" y="0"/>
            <a:ext cx="12188520" cy="95976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8" name="Rectangle 2"/>
          <p:cNvSpPr/>
          <p:nvPr/>
        </p:nvSpPr>
        <p:spPr>
          <a:xfrm>
            <a:off x="0" y="0"/>
            <a:ext cx="91080" cy="959760"/>
          </a:xfrm>
          <a:prstGeom prst="rect">
            <a:avLst/>
          </a:prstGeom>
          <a:solidFill>
            <a:srgbClr val="00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9" name="TextBox 3"/>
          <p:cNvSpPr/>
          <p:nvPr/>
        </p:nvSpPr>
        <p:spPr>
          <a:xfrm>
            <a:off x="228600" y="91440"/>
            <a:ext cx="11429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Выводы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Rectangle 4"/>
          <p:cNvSpPr/>
          <p:nvPr/>
        </p:nvSpPr>
        <p:spPr>
          <a:xfrm>
            <a:off x="0" y="6793920"/>
            <a:ext cx="12188520" cy="63720"/>
          </a:xfrm>
          <a:prstGeom prst="rect">
            <a:avLst/>
          </a:prstGeom>
          <a:solidFill>
            <a:srgbClr val="00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1" name="TextBox 5"/>
          <p:cNvSpPr/>
          <p:nvPr/>
        </p:nvSpPr>
        <p:spPr>
          <a:xfrm>
            <a:off x="11274480" y="6510600"/>
            <a:ext cx="77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7799BB"/>
                </a:solidFill>
                <a:effectLst/>
                <a:uFillTx/>
                <a:latin typeface="Calibri"/>
              </a:rPr>
              <a:t>14 / 15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Rectangle 6"/>
          <p:cNvSpPr/>
          <p:nvPr/>
        </p:nvSpPr>
        <p:spPr>
          <a:xfrm>
            <a:off x="274320" y="1188720"/>
            <a:ext cx="11612520" cy="109692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3" name="Rectangle 7"/>
          <p:cNvSpPr/>
          <p:nvPr/>
        </p:nvSpPr>
        <p:spPr>
          <a:xfrm>
            <a:off x="274320" y="1188720"/>
            <a:ext cx="63720" cy="1096920"/>
          </a:xfrm>
          <a:prstGeom prst="rect">
            <a:avLst/>
          </a:prstGeom>
          <a:solidFill>
            <a:srgbClr val="FF44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4" name="TextBox 8"/>
          <p:cNvSpPr/>
          <p:nvPr/>
        </p:nvSpPr>
        <p:spPr>
          <a:xfrm>
            <a:off x="502920" y="1261800"/>
            <a:ext cx="10972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F4455"/>
                </a:solidFill>
                <a:effectLst/>
                <a:uFillTx/>
                <a:latin typeface="Calibri"/>
              </a:rPr>
              <a:t>1) Первый метод (Simple Otsu) — хрящ не выделяется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Box 9"/>
          <p:cNvSpPr/>
          <p:nvPr/>
        </p:nvSpPr>
        <p:spPr>
          <a:xfrm>
            <a:off x="502920" y="1719000"/>
            <a:ext cx="109724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Один порог делит только ткань/фон. Кость и хрящ сливаются в один блоб → Dice хряща ≈ 0.000.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Rectangle 10"/>
          <p:cNvSpPr/>
          <p:nvPr/>
        </p:nvSpPr>
        <p:spPr>
          <a:xfrm>
            <a:off x="274320" y="2377440"/>
            <a:ext cx="11612520" cy="109692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7" name="Rectangle 11"/>
          <p:cNvSpPr/>
          <p:nvPr/>
        </p:nvSpPr>
        <p:spPr>
          <a:xfrm>
            <a:off x="274320" y="2377440"/>
            <a:ext cx="63720" cy="109692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8" name="TextBox 12"/>
          <p:cNvSpPr/>
          <p:nvPr/>
        </p:nvSpPr>
        <p:spPr>
          <a:xfrm>
            <a:off x="502920" y="2450520"/>
            <a:ext cx="10972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F9900"/>
                </a:solidFill>
                <a:effectLst/>
                <a:uFillTx/>
                <a:latin typeface="Calibri"/>
              </a:rPr>
              <a:t>2) После изучения литературы — Double-Otsu с морфологией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Box 13"/>
          <p:cNvSpPr/>
          <p:nvPr/>
        </p:nvSpPr>
        <p:spPr>
          <a:xfrm>
            <a:off x="502920" y="2907720"/>
            <a:ext cx="109724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Два последовательных порога: t₁ (ткань/фон), t₂ (кость/хрящ внутри ткани). Dice кость: 0.68–0.96, Dice хрящ: 0.05–0.38.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Rectangle 14"/>
          <p:cNvSpPr/>
          <p:nvPr/>
        </p:nvSpPr>
        <p:spPr>
          <a:xfrm>
            <a:off x="274320" y="3566160"/>
            <a:ext cx="11612520" cy="109692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1" name="Rectangle 15"/>
          <p:cNvSpPr/>
          <p:nvPr/>
        </p:nvSpPr>
        <p:spPr>
          <a:xfrm>
            <a:off x="274320" y="3566160"/>
            <a:ext cx="63720" cy="1096920"/>
          </a:xfrm>
          <a:prstGeom prst="rect">
            <a:avLst/>
          </a:prstGeom>
          <a:solidFill>
            <a:srgbClr val="00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2" name="TextBox 16"/>
          <p:cNvSpPr/>
          <p:nvPr/>
        </p:nvSpPr>
        <p:spPr>
          <a:xfrm>
            <a:off x="502920" y="3639240"/>
            <a:ext cx="10972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0099FF"/>
                </a:solidFill>
                <a:effectLst/>
                <a:uFillTx/>
                <a:latin typeface="Calibri"/>
              </a:rPr>
              <a:t>3) U-Net (следующий шаг) даёт Dice 0.85–0.95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Box 17"/>
          <p:cNvSpPr/>
          <p:nvPr/>
        </p:nvSpPr>
        <p:spPr>
          <a:xfrm>
            <a:off x="502920" y="4096440"/>
            <a:ext cx="109724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Нейросеть учится на форме и контексте, а не только на яркости. Требует GPU и аннотированных данных. Цель для развития работы.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Rectangle 18"/>
          <p:cNvSpPr/>
          <p:nvPr/>
        </p:nvSpPr>
        <p:spPr>
          <a:xfrm>
            <a:off x="274320" y="4754880"/>
            <a:ext cx="11612520" cy="109692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5" name="Rectangle 19"/>
          <p:cNvSpPr/>
          <p:nvPr/>
        </p:nvSpPr>
        <p:spPr>
          <a:xfrm>
            <a:off x="274320" y="4754880"/>
            <a:ext cx="63720" cy="1096920"/>
          </a:xfrm>
          <a:prstGeom prst="rect">
            <a:avLst/>
          </a:prstGeom>
          <a:solidFill>
            <a:srgbClr val="00CC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6" name="TextBox 20"/>
          <p:cNvSpPr/>
          <p:nvPr/>
        </p:nvSpPr>
        <p:spPr>
          <a:xfrm>
            <a:off x="502920" y="4827960"/>
            <a:ext cx="10972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00CC99"/>
                </a:solidFill>
                <a:effectLst/>
                <a:uFillTx/>
                <a:latin typeface="Calibri"/>
              </a:rPr>
              <a:t>4) Точная сегментация → автоматический диагноз стадии артрита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Box 21"/>
          <p:cNvSpPr/>
          <p:nvPr/>
        </p:nvSpPr>
        <p:spPr>
          <a:xfrm>
            <a:off x="502920" y="5285160"/>
            <a:ext cx="109724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По площади хряща и ширине суставной щели можно автоматически определить KL-стадию остеоартрита без участия врача.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Rectangle 22"/>
          <p:cNvSpPr/>
          <p:nvPr/>
        </p:nvSpPr>
        <p:spPr>
          <a:xfrm>
            <a:off x="274320" y="5943600"/>
            <a:ext cx="11612520" cy="80424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9" name="TextBox 23"/>
          <p:cNvSpPr/>
          <p:nvPr/>
        </p:nvSpPr>
        <p:spPr>
          <a:xfrm>
            <a:off x="457200" y="599832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7799BB"/>
                </a:solidFill>
                <a:effectLst/>
                <a:uFillTx/>
                <a:latin typeface="Calibri"/>
              </a:rPr>
              <a:t>Следующие шаги: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Rectangle 24"/>
          <p:cNvSpPr/>
          <p:nvPr/>
        </p:nvSpPr>
        <p:spPr>
          <a:xfrm>
            <a:off x="2286000" y="6016680"/>
            <a:ext cx="63720" cy="658080"/>
          </a:xfrm>
          <a:prstGeom prst="rect">
            <a:avLst/>
          </a:prstGeom>
          <a:solidFill>
            <a:srgbClr val="00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1" name="TextBox 25"/>
          <p:cNvSpPr/>
          <p:nvPr/>
        </p:nvSpPr>
        <p:spPr>
          <a:xfrm>
            <a:off x="2423160" y="5998320"/>
            <a:ext cx="21942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Скачать реальный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датасет OAI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Rectangle 26"/>
          <p:cNvSpPr/>
          <p:nvPr/>
        </p:nvSpPr>
        <p:spPr>
          <a:xfrm>
            <a:off x="4663440" y="6016680"/>
            <a:ext cx="63720" cy="658080"/>
          </a:xfrm>
          <a:prstGeom prst="rect">
            <a:avLst/>
          </a:prstGeom>
          <a:solidFill>
            <a:srgbClr val="00CC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3" name="TextBox 27"/>
          <p:cNvSpPr/>
          <p:nvPr/>
        </p:nvSpPr>
        <p:spPr>
          <a:xfrm>
            <a:off x="4800600" y="5998320"/>
            <a:ext cx="21942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Реализовать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U-Net (PyTorch)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Rectangle 28"/>
          <p:cNvSpPr/>
          <p:nvPr/>
        </p:nvSpPr>
        <p:spPr>
          <a:xfrm>
            <a:off x="7040880" y="6016680"/>
            <a:ext cx="63720" cy="65808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5" name="TextBox 29"/>
          <p:cNvSpPr/>
          <p:nvPr/>
        </p:nvSpPr>
        <p:spPr>
          <a:xfrm>
            <a:off x="7178040" y="5998320"/>
            <a:ext cx="21942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Обучить на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реальных масках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Rectangle 30"/>
          <p:cNvSpPr/>
          <p:nvPr/>
        </p:nvSpPr>
        <p:spPr>
          <a:xfrm>
            <a:off x="9418320" y="6016680"/>
            <a:ext cx="63720" cy="658080"/>
          </a:xfrm>
          <a:prstGeom prst="rect">
            <a:avLst/>
          </a:prstGeom>
          <a:solidFill>
            <a:srgbClr val="7799B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7" name="TextBox 31"/>
          <p:cNvSpPr/>
          <p:nvPr/>
        </p:nvSpPr>
        <p:spPr>
          <a:xfrm>
            <a:off x="9555480" y="5998320"/>
            <a:ext cx="21942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Интегрировать с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KL-классификатором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Rectangle 1"/>
          <p:cNvSpPr/>
          <p:nvPr/>
        </p:nvSpPr>
        <p:spPr>
          <a:xfrm>
            <a:off x="0" y="0"/>
            <a:ext cx="12188520" cy="1096920"/>
          </a:xfrm>
          <a:prstGeom prst="rect">
            <a:avLst/>
          </a:prstGeom>
          <a:solidFill>
            <a:srgbClr val="1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9" name="Rectangle 2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00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0" name="Rectangle 3"/>
          <p:cNvSpPr/>
          <p:nvPr/>
        </p:nvSpPr>
        <p:spPr>
          <a:xfrm>
            <a:off x="0" y="6793920"/>
            <a:ext cx="12188520" cy="63720"/>
          </a:xfrm>
          <a:prstGeom prst="rect">
            <a:avLst/>
          </a:prstGeom>
          <a:solidFill>
            <a:srgbClr val="00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1" name="TextBox 4"/>
          <p:cNvSpPr/>
          <p:nvPr/>
        </p:nvSpPr>
        <p:spPr>
          <a:xfrm>
            <a:off x="914400" y="1554480"/>
            <a:ext cx="100580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Спасибо за внимание!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Rectangle 5"/>
          <p:cNvSpPr/>
          <p:nvPr/>
        </p:nvSpPr>
        <p:spPr>
          <a:xfrm>
            <a:off x="3200400" y="2743200"/>
            <a:ext cx="5668920" cy="54360"/>
          </a:xfrm>
          <a:prstGeom prst="rect">
            <a:avLst/>
          </a:prstGeom>
          <a:solidFill>
            <a:srgbClr val="00CC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3" name="TextBox 6"/>
          <p:cNvSpPr/>
          <p:nvPr/>
        </p:nvSpPr>
        <p:spPr>
          <a:xfrm>
            <a:off x="914400" y="292608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0CC99"/>
                </a:solidFill>
                <a:effectLst/>
                <a:uFillTx/>
                <a:latin typeface="Calibri"/>
              </a:rPr>
              <a:t>Маратов Ерасыл Балканович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Box 7"/>
          <p:cNvSpPr/>
          <p:nvPr/>
        </p:nvSpPr>
        <p:spPr>
          <a:xfrm>
            <a:off x="914400" y="34747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7799BB"/>
                </a:solidFill>
                <a:effectLst/>
                <a:uFillTx/>
                <a:latin typeface="Calibri"/>
              </a:rPr>
              <a:t>7М06101  |  AIU  |  2025–2026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Rectangle 8"/>
          <p:cNvSpPr/>
          <p:nvPr/>
        </p:nvSpPr>
        <p:spPr>
          <a:xfrm>
            <a:off x="822960" y="4480560"/>
            <a:ext cx="2011320" cy="502560"/>
          </a:xfrm>
          <a:prstGeom prst="rect">
            <a:avLst/>
          </a:prstGeom>
          <a:solidFill>
            <a:srgbClr val="FF44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6" name="TextBox 9"/>
          <p:cNvSpPr/>
          <p:nvPr/>
        </p:nvSpPr>
        <p:spPr>
          <a:xfrm>
            <a:off x="822960" y="452628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E1A2B"/>
                </a:solidFill>
                <a:effectLst/>
                <a:uFillTx/>
                <a:latin typeface="Calibri"/>
              </a:rPr>
              <a:t>Simple Otsu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Rectangle 10"/>
          <p:cNvSpPr/>
          <p:nvPr/>
        </p:nvSpPr>
        <p:spPr>
          <a:xfrm>
            <a:off x="2971800" y="4480560"/>
            <a:ext cx="2011320" cy="50256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8" name="TextBox 11"/>
          <p:cNvSpPr/>
          <p:nvPr/>
        </p:nvSpPr>
        <p:spPr>
          <a:xfrm>
            <a:off x="2971800" y="452628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E1A2B"/>
                </a:solidFill>
                <a:effectLst/>
                <a:uFillTx/>
                <a:latin typeface="Calibri"/>
              </a:rPr>
              <a:t>Double-Otsu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Rectangle 12"/>
          <p:cNvSpPr/>
          <p:nvPr/>
        </p:nvSpPr>
        <p:spPr>
          <a:xfrm>
            <a:off x="5120640" y="4480560"/>
            <a:ext cx="2011320" cy="502560"/>
          </a:xfrm>
          <a:prstGeom prst="rect">
            <a:avLst/>
          </a:prstGeom>
          <a:solidFill>
            <a:srgbClr val="00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0" name="TextBox 13"/>
          <p:cNvSpPr/>
          <p:nvPr/>
        </p:nvSpPr>
        <p:spPr>
          <a:xfrm>
            <a:off x="5120640" y="452628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E1A2B"/>
                </a:solidFill>
                <a:effectLst/>
                <a:uFillTx/>
                <a:latin typeface="Calibri"/>
              </a:rPr>
              <a:t>U-Net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Rectangle 14"/>
          <p:cNvSpPr/>
          <p:nvPr/>
        </p:nvSpPr>
        <p:spPr>
          <a:xfrm>
            <a:off x="7269480" y="4480560"/>
            <a:ext cx="2011320" cy="502560"/>
          </a:xfrm>
          <a:prstGeom prst="rect">
            <a:avLst/>
          </a:prstGeom>
          <a:solidFill>
            <a:srgbClr val="00CC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2" name="TextBox 15"/>
          <p:cNvSpPr/>
          <p:nvPr/>
        </p:nvSpPr>
        <p:spPr>
          <a:xfrm>
            <a:off x="7269480" y="452628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E1A2B"/>
                </a:solidFill>
                <a:effectLst/>
                <a:uFillTx/>
                <a:latin typeface="Calibri"/>
              </a:rPr>
              <a:t>Dice Score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Rectangle 16"/>
          <p:cNvSpPr/>
          <p:nvPr/>
        </p:nvSpPr>
        <p:spPr>
          <a:xfrm>
            <a:off x="9418320" y="4480560"/>
            <a:ext cx="2011320" cy="502560"/>
          </a:xfrm>
          <a:prstGeom prst="rect">
            <a:avLst/>
          </a:prstGeom>
          <a:solidFill>
            <a:srgbClr val="7799B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4" name="TextBox 17"/>
          <p:cNvSpPr/>
          <p:nvPr/>
        </p:nvSpPr>
        <p:spPr>
          <a:xfrm>
            <a:off x="9418320" y="452628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E1A2B"/>
                </a:solidFill>
                <a:effectLst/>
                <a:uFillTx/>
                <a:latin typeface="Calibri"/>
              </a:rPr>
              <a:t>FastAPI Demo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Box 18"/>
          <p:cNvSpPr/>
          <p:nvPr/>
        </p:nvSpPr>
        <p:spPr>
          <a:xfrm>
            <a:off x="11274480" y="6510600"/>
            <a:ext cx="77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7799BB"/>
                </a:solidFill>
                <a:effectLst/>
                <a:uFillTx/>
                <a:latin typeface="Calibri"/>
              </a:rPr>
              <a:t>15 / 15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</TotalTime>
  <Application>LibreOffice/26.2.0.3$MacOSX_AARCH64 LibreOffice_project/afbbd0df0edb6d40b450b0337ac646b0913a760c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2026-05-11T20:51:42Z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